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61" r:id="rId2"/>
    <p:sldId id="269" r:id="rId3"/>
    <p:sldId id="270" r:id="rId4"/>
    <p:sldId id="271" r:id="rId5"/>
    <p:sldId id="272" r:id="rId6"/>
    <p:sldId id="273" r:id="rId7"/>
    <p:sldId id="274" r:id="rId8"/>
    <p:sldId id="275" r:id="rId9"/>
    <p:sldId id="276" r:id="rId10"/>
    <p:sldId id="279" r:id="rId11"/>
  </p:sldIdLst>
  <p:sldSz cx="12192000" cy="6858000"/>
  <p:notesSz cx="6858000" cy="9144000"/>
  <p:embeddedFontLst>
    <p:embeddedFont>
      <p:font typeface="Fira Sans" panose="020B0503050000020004" pitchFamily="34" charset="0"/>
      <p:regular r:id="rId13"/>
      <p:bold r:id="rId14"/>
      <p:italic r:id="rId15"/>
      <p:boldItalic r:id="rId16"/>
    </p:embeddedFont>
    <p:embeddedFont>
      <p:font typeface="Marcellus" panose="020B0604020202020204" charset="0"/>
      <p:regular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9" roundtripDataSignature="AMtx7mgbWDH9BgynZPotlxacZXWgy2wVo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ableStyles" Target="tableStyles.xml"/><Relationship Id="rId10" Type="http://schemas.openxmlformats.org/officeDocument/2006/relationships/slide" Target="slides/slide9.xml"/><Relationship Id="rId19"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395948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
        <p:cNvGrpSpPr/>
        <p:nvPr/>
      </p:nvGrpSpPr>
      <p:grpSpPr>
        <a:xfrm>
          <a:off x="0" y="0"/>
          <a:ext cx="0" cy="0"/>
          <a:chOff x="0" y="0"/>
          <a:chExt cx="0" cy="0"/>
        </a:xfrm>
      </p:grpSpPr>
      <p:sp>
        <p:nvSpPr>
          <p:cNvPr id="17" name="Google Shape;1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 name="Google Shape;1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5" name="Google Shape;15;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rgbClr val="A42530"/>
              </a:buClr>
              <a:buSzPts val="6000"/>
              <a:buFont typeface="Marcellu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rgbClr val="4D4D4C"/>
              </a:buClr>
              <a:buSzPts val="2400"/>
              <a:buNone/>
              <a:defRPr sz="2400"/>
            </a:lvl1pPr>
            <a:lvl2pPr lvl="1" algn="ctr">
              <a:lnSpc>
                <a:spcPct val="90000"/>
              </a:lnSpc>
              <a:spcBef>
                <a:spcPts val="500"/>
              </a:spcBef>
              <a:spcAft>
                <a:spcPts val="0"/>
              </a:spcAft>
              <a:buClr>
                <a:srgbClr val="4D4D4C"/>
              </a:buClr>
              <a:buSzPts val="2000"/>
              <a:buNone/>
              <a:defRPr sz="2000"/>
            </a:lvl2pPr>
            <a:lvl3pPr lvl="2" algn="ctr">
              <a:lnSpc>
                <a:spcPct val="90000"/>
              </a:lnSpc>
              <a:spcBef>
                <a:spcPts val="500"/>
              </a:spcBef>
              <a:spcAft>
                <a:spcPts val="0"/>
              </a:spcAft>
              <a:buClr>
                <a:srgbClr val="4D4D4C"/>
              </a:buClr>
              <a:buSzPts val="1800"/>
              <a:buNone/>
              <a:defRPr sz="1800"/>
            </a:lvl3pPr>
            <a:lvl4pPr lvl="3" algn="ctr">
              <a:lnSpc>
                <a:spcPct val="90000"/>
              </a:lnSpc>
              <a:spcBef>
                <a:spcPts val="500"/>
              </a:spcBef>
              <a:spcAft>
                <a:spcPts val="0"/>
              </a:spcAft>
              <a:buClr>
                <a:srgbClr val="4D4D4C"/>
              </a:buClr>
              <a:buSzPts val="1600"/>
              <a:buNone/>
              <a:defRPr sz="1600"/>
            </a:lvl4pPr>
            <a:lvl5pPr lvl="4" algn="ctr">
              <a:lnSpc>
                <a:spcPct val="90000"/>
              </a:lnSpc>
              <a:spcBef>
                <a:spcPts val="500"/>
              </a:spcBef>
              <a:spcAft>
                <a:spcPts val="0"/>
              </a:spcAft>
              <a:buClr>
                <a:srgbClr val="4D4D4C"/>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 name="Google Shape;28;p6">
            <a:extLst>
              <a:ext uri="{FF2B5EF4-FFF2-40B4-BE49-F238E27FC236}">
                <a16:creationId xmlns:a16="http://schemas.microsoft.com/office/drawing/2014/main" id="{6F93FA11-668E-5D27-6486-F2A3F91F37DD}"/>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id="{A7B1C99D-C4D1-45FD-111D-769C26834B4B}"/>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id="{2994A560-18DD-F7FA-6DD2-C82499042282}"/>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6"/>
          <p:cNvSpPr/>
          <p:nvPr/>
        </p:nvSpPr>
        <p:spPr>
          <a:xfrm>
            <a:off x="0" y="5680472"/>
            <a:ext cx="838200" cy="1190779"/>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5" name="Google Shape;25;p6"/>
          <p:cNvSpPr/>
          <p:nvPr/>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sp>
        <p:nvSpPr>
          <p:cNvPr id="26" name="Google Shape;26;p6"/>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8" name="Google Shape;28;p6"/>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29" name="Google Shape;29;p6"/>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30" name="Google Shape;30;p6"/>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7"/>
        <p:cNvGrpSpPr/>
        <p:nvPr/>
      </p:nvGrpSpPr>
      <p:grpSpPr>
        <a:xfrm>
          <a:off x="0" y="0"/>
          <a:ext cx="0" cy="0"/>
          <a:chOff x="0" y="0"/>
          <a:chExt cx="0" cy="0"/>
        </a:xfrm>
      </p:grpSpPr>
      <p:sp>
        <p:nvSpPr>
          <p:cNvPr id="58" name="Google Shape;58;p7"/>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a16="http://schemas.microsoft.com/office/drawing/2014/main" id="{3BE4EE66-95F2-11F6-05EA-E5792929E648}"/>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id="{CD790172-54B1-1878-459A-282E99A7FB4D}"/>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id="{04871C75-B572-7CC7-1B53-358A4FEE2491}"/>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3" name="Google Shape;73;p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A42530"/>
              </a:buClr>
              <a:buSzPts val="6000"/>
              <a:buFont typeface="Marcellus"/>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 name="Google Shape;28;p6">
            <a:extLst>
              <a:ext uri="{FF2B5EF4-FFF2-40B4-BE49-F238E27FC236}">
                <a16:creationId xmlns:a16="http://schemas.microsoft.com/office/drawing/2014/main" id="{5D40BE01-A796-ADDE-1067-A85126FB9817}"/>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id="{C5F09E59-F1FA-4758-8DEB-A7EB3912E75F}"/>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id="{6FC11D24-EC12-A80C-ADB8-D5E74CECE372}"/>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80"/>
        <p:cNvGrpSpPr/>
        <p:nvPr/>
      </p:nvGrpSpPr>
      <p:grpSpPr>
        <a:xfrm>
          <a:off x="0" y="0"/>
          <a:ext cx="0" cy="0"/>
          <a:chOff x="0" y="0"/>
          <a:chExt cx="0" cy="0"/>
        </a:xfrm>
      </p:grpSpPr>
      <p:sp>
        <p:nvSpPr>
          <p:cNvPr id="84" name="Google Shape;84;p9"/>
          <p:cNvSpPr txBox="1">
            <a:spLocks noGrp="1"/>
          </p:cNvSpPr>
          <p:nvPr>
            <p:ph type="title"/>
          </p:nvPr>
        </p:nvSpPr>
        <p:spPr>
          <a:xfrm>
            <a:off x="839788" y="866776"/>
            <a:ext cx="10515600" cy="82391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4D4D4C"/>
              </a:buClr>
              <a:buSzPts val="2400"/>
              <a:buNone/>
              <a:defRPr sz="2400" b="1"/>
            </a:lvl1pPr>
            <a:lvl2pPr marL="914400" lvl="1" indent="-228600" algn="l">
              <a:lnSpc>
                <a:spcPct val="90000"/>
              </a:lnSpc>
              <a:spcBef>
                <a:spcPts val="500"/>
              </a:spcBef>
              <a:spcAft>
                <a:spcPts val="0"/>
              </a:spcAft>
              <a:buClr>
                <a:srgbClr val="4D4D4C"/>
              </a:buClr>
              <a:buSzPts val="2000"/>
              <a:buNone/>
              <a:defRPr sz="2000" b="1"/>
            </a:lvl2pPr>
            <a:lvl3pPr marL="1371600" lvl="2" indent="-228600" algn="l">
              <a:lnSpc>
                <a:spcPct val="90000"/>
              </a:lnSpc>
              <a:spcBef>
                <a:spcPts val="500"/>
              </a:spcBef>
              <a:spcAft>
                <a:spcPts val="0"/>
              </a:spcAft>
              <a:buClr>
                <a:srgbClr val="4D4D4C"/>
              </a:buClr>
              <a:buSzPts val="1800"/>
              <a:buNone/>
              <a:defRPr sz="1800" b="1"/>
            </a:lvl3pPr>
            <a:lvl4pPr marL="1828800" lvl="3" indent="-228600" algn="l">
              <a:lnSpc>
                <a:spcPct val="90000"/>
              </a:lnSpc>
              <a:spcBef>
                <a:spcPts val="500"/>
              </a:spcBef>
              <a:spcAft>
                <a:spcPts val="0"/>
              </a:spcAft>
              <a:buClr>
                <a:srgbClr val="4D4D4C"/>
              </a:buClr>
              <a:buSzPts val="1600"/>
              <a:buNone/>
              <a:defRPr sz="1600" b="1"/>
            </a:lvl4pPr>
            <a:lvl5pPr marL="2286000" lvl="4" indent="-228600" algn="l">
              <a:lnSpc>
                <a:spcPct val="90000"/>
              </a:lnSpc>
              <a:spcBef>
                <a:spcPts val="500"/>
              </a:spcBef>
              <a:spcAft>
                <a:spcPts val="0"/>
              </a:spcAft>
              <a:buClr>
                <a:srgbClr val="4D4D4C"/>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6" name="Google Shape;86;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rgbClr val="4D4D4C"/>
              </a:buClr>
              <a:buSzPts val="2400"/>
              <a:buNone/>
              <a:defRPr sz="2400" b="1"/>
            </a:lvl1pPr>
            <a:lvl2pPr marL="914400" lvl="1" indent="-228600" algn="l">
              <a:lnSpc>
                <a:spcPct val="90000"/>
              </a:lnSpc>
              <a:spcBef>
                <a:spcPts val="500"/>
              </a:spcBef>
              <a:spcAft>
                <a:spcPts val="0"/>
              </a:spcAft>
              <a:buClr>
                <a:srgbClr val="4D4D4C"/>
              </a:buClr>
              <a:buSzPts val="2000"/>
              <a:buNone/>
              <a:defRPr sz="2000" b="1"/>
            </a:lvl2pPr>
            <a:lvl3pPr marL="1371600" lvl="2" indent="-228600" algn="l">
              <a:lnSpc>
                <a:spcPct val="90000"/>
              </a:lnSpc>
              <a:spcBef>
                <a:spcPts val="500"/>
              </a:spcBef>
              <a:spcAft>
                <a:spcPts val="0"/>
              </a:spcAft>
              <a:buClr>
                <a:srgbClr val="4D4D4C"/>
              </a:buClr>
              <a:buSzPts val="1800"/>
              <a:buNone/>
              <a:defRPr sz="1800" b="1"/>
            </a:lvl3pPr>
            <a:lvl4pPr marL="1828800" lvl="3" indent="-228600" algn="l">
              <a:lnSpc>
                <a:spcPct val="90000"/>
              </a:lnSpc>
              <a:spcBef>
                <a:spcPts val="500"/>
              </a:spcBef>
              <a:spcAft>
                <a:spcPts val="0"/>
              </a:spcAft>
              <a:buClr>
                <a:srgbClr val="4D4D4C"/>
              </a:buClr>
              <a:buSzPts val="1600"/>
              <a:buNone/>
              <a:defRPr sz="1600" b="1"/>
            </a:lvl4pPr>
            <a:lvl5pPr marL="2286000" lvl="4" indent="-228600" algn="l">
              <a:lnSpc>
                <a:spcPct val="90000"/>
              </a:lnSpc>
              <a:spcBef>
                <a:spcPts val="500"/>
              </a:spcBef>
              <a:spcAft>
                <a:spcPts val="0"/>
              </a:spcAft>
              <a:buClr>
                <a:srgbClr val="4D4D4C"/>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88" name="Google Shape;88;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a16="http://schemas.microsoft.com/office/drawing/2014/main" id="{213AF292-09D4-0240-9F52-B3CE283D1964}"/>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id="{20A4B550-7FFA-C52B-9952-E28A393DD04C}"/>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id="{2BC36ECE-C3D1-09DD-489B-CE38B065731B}"/>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13"/>
        <p:cNvGrpSpPr/>
        <p:nvPr/>
      </p:nvGrpSpPr>
      <p:grpSpPr>
        <a:xfrm>
          <a:off x="0" y="0"/>
          <a:ext cx="0" cy="0"/>
          <a:chOff x="0" y="0"/>
          <a:chExt cx="0" cy="0"/>
        </a:xfrm>
      </p:grpSpPr>
      <p:sp>
        <p:nvSpPr>
          <p:cNvPr id="117" name="Google Shape;117;p14"/>
          <p:cNvSpPr txBox="1">
            <a:spLocks noGrp="1"/>
          </p:cNvSpPr>
          <p:nvPr>
            <p:ph type="title"/>
          </p:nvPr>
        </p:nvSpPr>
        <p:spPr>
          <a:xfrm>
            <a:off x="838200" y="866274"/>
            <a:ext cx="10515600" cy="824414"/>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A4253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118" name="Google Shape;118;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4D4D4C"/>
              </a:buClr>
              <a:buSzPts val="1800"/>
              <a:buChar char="•"/>
              <a:defRPr/>
            </a:lvl1pPr>
            <a:lvl2pPr marL="914400" lvl="1" indent="-342900" algn="l">
              <a:lnSpc>
                <a:spcPct val="90000"/>
              </a:lnSpc>
              <a:spcBef>
                <a:spcPts val="500"/>
              </a:spcBef>
              <a:spcAft>
                <a:spcPts val="0"/>
              </a:spcAft>
              <a:buClr>
                <a:srgbClr val="4D4D4C"/>
              </a:buClr>
              <a:buSzPts val="1800"/>
              <a:buChar char="•"/>
              <a:defRPr/>
            </a:lvl2pPr>
            <a:lvl3pPr marL="1371600" lvl="2" indent="-342900" algn="l">
              <a:lnSpc>
                <a:spcPct val="90000"/>
              </a:lnSpc>
              <a:spcBef>
                <a:spcPts val="500"/>
              </a:spcBef>
              <a:spcAft>
                <a:spcPts val="0"/>
              </a:spcAft>
              <a:buClr>
                <a:srgbClr val="4D4D4C"/>
              </a:buClr>
              <a:buSzPts val="1800"/>
              <a:buChar char="•"/>
              <a:defRPr/>
            </a:lvl3pPr>
            <a:lvl4pPr marL="1828800" lvl="3" indent="-342900" algn="l">
              <a:lnSpc>
                <a:spcPct val="90000"/>
              </a:lnSpc>
              <a:spcBef>
                <a:spcPts val="500"/>
              </a:spcBef>
              <a:spcAft>
                <a:spcPts val="0"/>
              </a:spcAft>
              <a:buClr>
                <a:srgbClr val="4D4D4C"/>
              </a:buClr>
              <a:buSzPts val="1800"/>
              <a:buChar char="•"/>
              <a:defRPr/>
            </a:lvl4pPr>
            <a:lvl5pPr marL="2286000" lvl="4" indent="-342900" algn="l">
              <a:lnSpc>
                <a:spcPct val="90000"/>
              </a:lnSpc>
              <a:spcBef>
                <a:spcPts val="500"/>
              </a:spcBef>
              <a:spcAft>
                <a:spcPts val="0"/>
              </a:spcAft>
              <a:buClr>
                <a:srgbClr val="4D4D4C"/>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 name="Google Shape;28;p6">
            <a:extLst>
              <a:ext uri="{FF2B5EF4-FFF2-40B4-BE49-F238E27FC236}">
                <a16:creationId xmlns:a16="http://schemas.microsoft.com/office/drawing/2014/main" id="{92DB2441-62E7-3832-5EE5-42D43B0B9145}"/>
              </a:ext>
            </a:extLst>
          </p:cNvPr>
          <p:cNvSpPr txBox="1">
            <a:spLocks noGrp="1"/>
          </p:cNvSpPr>
          <p:nvPr>
            <p:ph type="dt" idx="10"/>
          </p:nvPr>
        </p:nvSpPr>
        <p:spPr>
          <a:xfrm>
            <a:off x="838200" y="5843197"/>
            <a:ext cx="2743200" cy="496491"/>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dirty="0"/>
          </a:p>
        </p:txBody>
      </p:sp>
      <p:sp>
        <p:nvSpPr>
          <p:cNvPr id="4" name="Google Shape;29;p6">
            <a:extLst>
              <a:ext uri="{FF2B5EF4-FFF2-40B4-BE49-F238E27FC236}">
                <a16:creationId xmlns:a16="http://schemas.microsoft.com/office/drawing/2014/main" id="{D868530D-AFB3-4C01-7548-464E74FEE2D4}"/>
              </a:ext>
            </a:extLst>
          </p:cNvPr>
          <p:cNvSpPr txBox="1">
            <a:spLocks noGrp="1"/>
          </p:cNvSpPr>
          <p:nvPr>
            <p:ph type="ftr" idx="11"/>
          </p:nvPr>
        </p:nvSpPr>
        <p:spPr>
          <a:xfrm>
            <a:off x="4038600" y="5843197"/>
            <a:ext cx="4114800" cy="514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solidFill>
                  <a:schemeClr val="tx1">
                    <a:lumMod val="75000"/>
                    <a:lumOff val="25000"/>
                  </a:schemeClr>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lang="en-US"/>
          </a:p>
        </p:txBody>
      </p:sp>
      <p:sp>
        <p:nvSpPr>
          <p:cNvPr id="5" name="Google Shape;30;p6">
            <a:extLst>
              <a:ext uri="{FF2B5EF4-FFF2-40B4-BE49-F238E27FC236}">
                <a16:creationId xmlns:a16="http://schemas.microsoft.com/office/drawing/2014/main" id="{A663D57F-09FB-1768-75C6-36B36B985693}"/>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2" name="Google Shape;12;p5">
            <a:extLst>
              <a:ext uri="{FF2B5EF4-FFF2-40B4-BE49-F238E27FC236}">
                <a16:creationId xmlns:a16="http://schemas.microsoft.com/office/drawing/2014/main" id="{44909106-E9FD-B340-07F3-E7E43E0C87E5}"/>
              </a:ext>
            </a:extLst>
          </p:cNvPr>
          <p:cNvSpPr/>
          <p:nvPr userDrawn="1"/>
        </p:nvSpPr>
        <p:spPr>
          <a:xfrm>
            <a:off x="0" y="6080760"/>
            <a:ext cx="838200" cy="79049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3" name="Google Shape;13;p5">
            <a:extLst>
              <a:ext uri="{FF2B5EF4-FFF2-40B4-BE49-F238E27FC236}">
                <a16:creationId xmlns:a16="http://schemas.microsoft.com/office/drawing/2014/main" id="{EAAF044C-1D0D-0CFE-1234-30E94B876495}"/>
              </a:ext>
            </a:extLst>
          </p:cNvPr>
          <p:cNvSpPr/>
          <p:nvPr userDrawn="1"/>
        </p:nvSpPr>
        <p:spPr>
          <a:xfrm>
            <a:off x="10169610" y="6356350"/>
            <a:ext cx="2022390" cy="514900"/>
          </a:xfrm>
          <a:prstGeom prst="rect">
            <a:avLst/>
          </a:prstGeom>
          <a:solidFill>
            <a:srgbClr val="D9222A"/>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dirty="0">
              <a:solidFill>
                <a:schemeClr val="lt1"/>
              </a:solidFill>
              <a:latin typeface="Calibri"/>
              <a:ea typeface="Calibri"/>
              <a:cs typeface="Calibri"/>
              <a:sym typeface="Calibri"/>
            </a:endParaRPr>
          </a:p>
        </p:txBody>
      </p:sp>
      <p:sp>
        <p:nvSpPr>
          <p:cNvPr id="4" name="Google Shape;14;p5">
            <a:extLst>
              <a:ext uri="{FF2B5EF4-FFF2-40B4-BE49-F238E27FC236}">
                <a16:creationId xmlns:a16="http://schemas.microsoft.com/office/drawing/2014/main" id="{5526ECCB-9585-9619-412C-AF7D491C3AAD}"/>
              </a:ext>
            </a:extLst>
          </p:cNvPr>
          <p:cNvSpPr/>
          <p:nvPr userDrawn="1"/>
        </p:nvSpPr>
        <p:spPr>
          <a:xfrm>
            <a:off x="838199" y="6356350"/>
            <a:ext cx="9331411" cy="514901"/>
          </a:xfrm>
          <a:prstGeom prst="rect">
            <a:avLst/>
          </a:prstGeom>
          <a:solidFill>
            <a:srgbClr val="A4253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Fira Sans"/>
              <a:ea typeface="Fira Sans"/>
              <a:cs typeface="Fira Sans"/>
              <a:sym typeface="Fira Sans"/>
            </a:endParaRPr>
          </a:p>
        </p:txBody>
      </p:sp>
      <p:pic>
        <p:nvPicPr>
          <p:cNvPr id="5" name="Google Shape;21;p5" descr="Graphical user interface, text, application&#10;&#10;Description automatically generated">
            <a:extLst>
              <a:ext uri="{FF2B5EF4-FFF2-40B4-BE49-F238E27FC236}">
                <a16:creationId xmlns:a16="http://schemas.microsoft.com/office/drawing/2014/main" id="{93B2F81F-E84E-30FC-261A-95AAEEBA8CF0}"/>
              </a:ext>
            </a:extLst>
          </p:cNvPr>
          <p:cNvPicPr preferRelativeResize="0"/>
          <p:nvPr userDrawn="1"/>
        </p:nvPicPr>
        <p:blipFill rotWithShape="1">
          <a:blip r:embed="rId8">
            <a:alphaModFix/>
          </a:blip>
          <a:srcRect/>
          <a:stretch/>
        </p:blipFill>
        <p:spPr>
          <a:xfrm>
            <a:off x="11124596" y="226123"/>
            <a:ext cx="728472" cy="539609"/>
          </a:xfrm>
          <a:prstGeom prst="rect">
            <a:avLst/>
          </a:prstGeom>
          <a:noFill/>
          <a:ln>
            <a:noFill/>
          </a:ln>
        </p:spPr>
      </p:pic>
      <p:pic>
        <p:nvPicPr>
          <p:cNvPr id="6" name="Picture 5"/>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93862" y="141576"/>
            <a:ext cx="2316256" cy="708705"/>
          </a:xfrm>
          <a:prstGeom prst="rect">
            <a:avLst/>
          </a:prstGeom>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3" r:id="rId3"/>
    <p:sldLayoutId id="2147483654" r:id="rId4"/>
    <p:sldLayoutId id="2147483655" r:id="rId5"/>
    <p:sldLayoutId id="2147483658"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
        <p:cNvGrpSpPr/>
        <p:nvPr/>
      </p:nvGrpSpPr>
      <p:grpSpPr>
        <a:xfrm>
          <a:off x="0" y="0"/>
          <a:ext cx="0" cy="0"/>
          <a:chOff x="0" y="0"/>
          <a:chExt cx="0" cy="0"/>
        </a:xfrm>
      </p:grpSpPr>
      <p:sp>
        <p:nvSpPr>
          <p:cNvPr id="20" name="Google Shape;20;p1"/>
          <p:cNvSpPr txBox="1">
            <a:spLocks noGrp="1"/>
          </p:cNvSpPr>
          <p:nvPr>
            <p:ph type="ctrTitle"/>
          </p:nvPr>
        </p:nvSpPr>
        <p:spPr>
          <a:xfrm>
            <a:off x="1658337" y="836235"/>
            <a:ext cx="9144000" cy="578445"/>
          </a:xfrm>
          <a:prstGeom prst="rect">
            <a:avLst/>
          </a:prstGeom>
          <a:noFill/>
          <a:ln>
            <a:noFill/>
          </a:ln>
        </p:spPr>
        <p:txBody>
          <a:bodyPr spcFirstLastPara="1" wrap="square" lIns="91425" tIns="45700" rIns="91425" bIns="45700" anchor="b" anchorCtr="0">
            <a:noAutofit/>
          </a:bodyPr>
          <a:lstStyle/>
          <a:p>
            <a:pPr lvl="0"/>
            <a:r>
              <a:rPr lang="en-IN" sz="4000" b="1" dirty="0"/>
              <a:t>Scandal-Traditional Men’s Wear</a:t>
            </a:r>
            <a:endParaRPr sz="4000" b="1" dirty="0"/>
          </a:p>
        </p:txBody>
      </p:sp>
      <p:sp>
        <p:nvSpPr>
          <p:cNvPr id="21" name="Google Shape;21;p1"/>
          <p:cNvSpPr txBox="1">
            <a:spLocks noGrp="1"/>
          </p:cNvSpPr>
          <p:nvPr>
            <p:ph type="subTitle" idx="1"/>
          </p:nvPr>
        </p:nvSpPr>
        <p:spPr>
          <a:xfrm>
            <a:off x="62760" y="1861770"/>
            <a:ext cx="12109155" cy="2037293"/>
          </a:xfrm>
          <a:prstGeom prst="rect">
            <a:avLst/>
          </a:prstGeom>
          <a:noFill/>
          <a:ln>
            <a:noFill/>
          </a:ln>
        </p:spPr>
        <p:txBody>
          <a:bodyPr spcFirstLastPara="1" wrap="square" lIns="91425" tIns="45700" rIns="91425" bIns="45700" anchor="t" anchorCtr="0">
            <a:noAutofit/>
          </a:bodyPr>
          <a:lstStyle/>
          <a:p>
            <a:pPr marL="0" lvl="0" indent="0">
              <a:lnSpc>
                <a:spcPct val="100000"/>
              </a:lnSpc>
              <a:spcBef>
                <a:spcPts val="0"/>
              </a:spcBef>
              <a:buClr>
                <a:schemeClr val="dk1"/>
              </a:buClr>
              <a:buSzPts val="2800"/>
            </a:pPr>
            <a:r>
              <a:rPr lang="en-US" sz="1100" dirty="0">
                <a:solidFill>
                  <a:schemeClr val="dk1"/>
                </a:solidFill>
              </a:rPr>
              <a:t>Nishi Shah - 16010125808</a:t>
            </a:r>
          </a:p>
          <a:p>
            <a:pPr marL="0" lvl="0" indent="0">
              <a:lnSpc>
                <a:spcPct val="100000"/>
              </a:lnSpc>
              <a:spcBef>
                <a:spcPts val="0"/>
              </a:spcBef>
              <a:buClr>
                <a:schemeClr val="dk1"/>
              </a:buClr>
              <a:buSzPts val="2800"/>
            </a:pPr>
            <a:r>
              <a:rPr lang="en-US" sz="1100" dirty="0">
                <a:solidFill>
                  <a:schemeClr val="dk1"/>
                </a:solidFill>
              </a:rPr>
              <a:t>Khush Satra - 16010125815</a:t>
            </a:r>
          </a:p>
          <a:p>
            <a:pPr marL="0" lvl="0" indent="0">
              <a:lnSpc>
                <a:spcPct val="100000"/>
              </a:lnSpc>
              <a:spcBef>
                <a:spcPts val="0"/>
              </a:spcBef>
              <a:buClr>
                <a:schemeClr val="dk1"/>
              </a:buClr>
              <a:buSzPts val="2800"/>
            </a:pPr>
            <a:r>
              <a:rPr lang="en-US" sz="1100" dirty="0">
                <a:solidFill>
                  <a:schemeClr val="dk1"/>
                </a:solidFill>
              </a:rPr>
              <a:t>Harshit Panchal - 16010125810</a:t>
            </a:r>
            <a:endParaRPr lang="en-US" sz="1100" dirty="0"/>
          </a:p>
          <a:p>
            <a:pPr marL="0" lvl="0" indent="0">
              <a:lnSpc>
                <a:spcPct val="100000"/>
              </a:lnSpc>
              <a:spcBef>
                <a:spcPts val="600"/>
              </a:spcBef>
              <a:buClr>
                <a:schemeClr val="dk1"/>
              </a:buClr>
              <a:buSzPts val="2800"/>
            </a:pPr>
            <a:r>
              <a:rPr lang="en-US" sz="1100" dirty="0">
                <a:solidFill>
                  <a:schemeClr val="dk1"/>
                </a:solidFill>
              </a:rPr>
              <a:t>KJ Somaiya School of Engineering</a:t>
            </a:r>
          </a:p>
        </p:txBody>
      </p:sp>
      <p:sp>
        <p:nvSpPr>
          <p:cNvPr id="9" name="Google Shape;30;p6">
            <a:extLst>
              <a:ext uri="{FF2B5EF4-FFF2-40B4-BE49-F238E27FC236}">
                <a16:creationId xmlns:a16="http://schemas.microsoft.com/office/drawing/2014/main" id="{C46F5E81-7F9A-2292-04D4-6CA8EEE2316A}"/>
              </a:ext>
            </a:extLst>
          </p:cNvPr>
          <p:cNvSpPr txBox="1">
            <a:spLocks noGrp="1"/>
          </p:cNvSpPr>
          <p:nvPr>
            <p:ph type="sldNum" idx="12"/>
          </p:nvPr>
        </p:nvSpPr>
        <p:spPr>
          <a:xfrm>
            <a:off x="10169610" y="5862996"/>
            <a:ext cx="2016210" cy="496491"/>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200"/>
              <a:buFont typeface="Arial"/>
              <a:buNone/>
              <a:defRPr sz="1200" b="0" i="0" u="none" strike="noStrike" cap="none">
                <a:solidFill>
                  <a:schemeClr val="tx1">
                    <a:lumMod val="75000"/>
                    <a:lumOff val="25000"/>
                  </a:schemeClr>
                </a:solidFill>
                <a:latin typeface="Fira Sans"/>
                <a:ea typeface="Fira Sans"/>
                <a:cs typeface="Fira Sans"/>
                <a:sym typeface="Fira Sans"/>
              </a:defRPr>
            </a:lvl1pPr>
            <a:lvl2pPr marL="0" marR="0" lvl="1"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2pPr>
            <a:lvl3pPr marL="0" marR="0" lvl="2"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3pPr>
            <a:lvl4pPr marL="0" marR="0" lvl="3"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4pPr>
            <a:lvl5pPr marL="0" marR="0" lvl="4"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5pPr>
            <a:lvl6pPr marL="0" marR="0" lvl="5"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6pPr>
            <a:lvl7pPr marL="0" marR="0" lvl="6"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7pPr>
            <a:lvl8pPr marL="0" marR="0" lvl="7"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8pPr>
            <a:lvl9pPr marL="0" marR="0" lvl="8" indent="0" algn="ctr">
              <a:lnSpc>
                <a:spcPct val="100000"/>
              </a:lnSpc>
              <a:spcBef>
                <a:spcPts val="0"/>
              </a:spcBef>
              <a:spcAft>
                <a:spcPts val="0"/>
              </a:spcAft>
              <a:buClr>
                <a:srgbClr val="000000"/>
              </a:buClr>
              <a:buSzPts val="1200"/>
              <a:buFont typeface="Arial"/>
              <a:buNone/>
              <a:defRPr sz="1200" b="0" i="0" u="none" strike="noStrike" cap="none">
                <a:solidFill>
                  <a:schemeClr val="lt1"/>
                </a:solidFill>
                <a:latin typeface="Fira Sans"/>
                <a:ea typeface="Fira Sans"/>
                <a:cs typeface="Fira Sans"/>
                <a:sym typeface="Fira Sans"/>
              </a:defRPr>
            </a:lvl9pPr>
          </a:lstStyle>
          <a:p>
            <a:fld id="{00000000-1234-1234-1234-123412341234}" type="slidenum">
              <a:rPr lang="en-US" smtClean="0"/>
              <a:pPr/>
              <a:t>1</a:t>
            </a:fld>
            <a:endParaRPr lang="en-US" dirty="0"/>
          </a:p>
        </p:txBody>
      </p:sp>
      <p:sp>
        <p:nvSpPr>
          <p:cNvPr id="2" name="Google Shape;20;p1">
            <a:extLst>
              <a:ext uri="{FF2B5EF4-FFF2-40B4-BE49-F238E27FC236}">
                <a16:creationId xmlns:a16="http://schemas.microsoft.com/office/drawing/2014/main" id="{9ED5693C-1F03-DE95-CAD9-5014A9350999}"/>
              </a:ext>
            </a:extLst>
          </p:cNvPr>
          <p:cNvSpPr txBox="1">
            <a:spLocks/>
          </p:cNvSpPr>
          <p:nvPr/>
        </p:nvSpPr>
        <p:spPr>
          <a:xfrm>
            <a:off x="1658337" y="1316295"/>
            <a:ext cx="9144000" cy="578445"/>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90000"/>
              </a:lnSpc>
              <a:spcBef>
                <a:spcPts val="0"/>
              </a:spcBef>
              <a:spcAft>
                <a:spcPts val="0"/>
              </a:spcAft>
              <a:buClr>
                <a:srgbClr val="A42530"/>
              </a:buClr>
              <a:buSzPts val="6000"/>
              <a:buFont typeface="Marcellus"/>
              <a:buNone/>
              <a:defRPr sz="60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r>
              <a:rPr lang="en-IN" sz="4000" b="1" dirty="0"/>
              <a:t>E-Commerce Platform</a:t>
            </a:r>
          </a:p>
        </p:txBody>
      </p:sp>
      <p:pic>
        <p:nvPicPr>
          <p:cNvPr id="6" name="Picture 5">
            <a:extLst>
              <a:ext uri="{FF2B5EF4-FFF2-40B4-BE49-F238E27FC236}">
                <a16:creationId xmlns:a16="http://schemas.microsoft.com/office/drawing/2014/main" id="{A107F411-2351-A66F-248A-1332DC2B0418}"/>
              </a:ext>
            </a:extLst>
          </p:cNvPr>
          <p:cNvPicPr>
            <a:picLocks noChangeAspect="1"/>
          </p:cNvPicPr>
          <p:nvPr/>
        </p:nvPicPr>
        <p:blipFill>
          <a:blip r:embed="rId3"/>
          <a:srcRect b="12610"/>
          <a:stretch>
            <a:fillRect/>
          </a:stretch>
        </p:blipFill>
        <p:spPr>
          <a:xfrm>
            <a:off x="907334" y="2730038"/>
            <a:ext cx="5188666" cy="3540580"/>
          </a:xfrm>
          <a:prstGeom prst="rect">
            <a:avLst/>
          </a:prstGeom>
        </p:spPr>
      </p:pic>
      <p:pic>
        <p:nvPicPr>
          <p:cNvPr id="8" name="Picture 7">
            <a:extLst>
              <a:ext uri="{FF2B5EF4-FFF2-40B4-BE49-F238E27FC236}">
                <a16:creationId xmlns:a16="http://schemas.microsoft.com/office/drawing/2014/main" id="{E301C60B-B7F6-6BE3-BA21-B89E4C577433}"/>
              </a:ext>
            </a:extLst>
          </p:cNvPr>
          <p:cNvPicPr>
            <a:picLocks noChangeAspect="1"/>
          </p:cNvPicPr>
          <p:nvPr/>
        </p:nvPicPr>
        <p:blipFill>
          <a:blip r:embed="rId4"/>
          <a:srcRect b="12781"/>
          <a:stretch>
            <a:fillRect/>
          </a:stretch>
        </p:blipFill>
        <p:spPr>
          <a:xfrm>
            <a:off x="6230337" y="2730038"/>
            <a:ext cx="5198829" cy="3540580"/>
          </a:xfrm>
          <a:prstGeom prst="rect">
            <a:avLst/>
          </a:prstGeom>
        </p:spPr>
      </p:pic>
    </p:spTree>
    <p:extLst>
      <p:ext uri="{BB962C8B-B14F-4D97-AF65-F5344CB8AC3E}">
        <p14:creationId xmlns:p14="http://schemas.microsoft.com/office/powerpoint/2010/main" val="2811253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8BCB8-0286-0A41-E3C6-05D24EDD3545}"/>
              </a:ext>
            </a:extLst>
          </p:cNvPr>
          <p:cNvSpPr>
            <a:spLocks noGrp="1"/>
          </p:cNvSpPr>
          <p:nvPr>
            <p:ph type="title"/>
          </p:nvPr>
        </p:nvSpPr>
        <p:spPr>
          <a:xfrm>
            <a:off x="464614" y="705852"/>
            <a:ext cx="11262772" cy="824414"/>
          </a:xfrm>
        </p:spPr>
        <p:txBody>
          <a:bodyPr>
            <a:normAutofit/>
          </a:bodyPr>
          <a:lstStyle/>
          <a:p>
            <a:r>
              <a:rPr lang="en-IN" sz="3200" u="sng" dirty="0">
                <a:solidFill>
                  <a:srgbClr val="C00000"/>
                </a:solidFill>
                <a:latin typeface="Times New Roman" panose="02020603050405020304" pitchFamily="18" charset="0"/>
                <a:cs typeface="Times New Roman" panose="02020603050405020304" pitchFamily="18" charset="0"/>
              </a:rPr>
              <a:t>Problem Statement</a:t>
            </a:r>
          </a:p>
        </p:txBody>
      </p:sp>
      <p:sp>
        <p:nvSpPr>
          <p:cNvPr id="11" name="Google Shape;329;p2">
            <a:extLst>
              <a:ext uri="{FF2B5EF4-FFF2-40B4-BE49-F238E27FC236}">
                <a16:creationId xmlns:a16="http://schemas.microsoft.com/office/drawing/2014/main" id="{F3C9EB02-001B-2F2F-01AD-9B4DFFBE7B08}"/>
              </a:ext>
            </a:extLst>
          </p:cNvPr>
          <p:cNvSpPr txBox="1">
            <a:spLocks/>
          </p:cNvSpPr>
          <p:nvPr/>
        </p:nvSpPr>
        <p:spPr>
          <a:xfrm>
            <a:off x="137652" y="1770561"/>
            <a:ext cx="10972800" cy="24103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r>
              <a:rPr lang="en-US" sz="2000" dirty="0"/>
              <a:t>Traditional Men's Wear — including Kurtas, Sherwanis, and Nehru Jackets — represents a </a:t>
            </a:r>
            <a:r>
              <a:rPr lang="en-US" sz="2000" b="1" dirty="0"/>
              <a:t>₹40,000+ Crore</a:t>
            </a:r>
            <a:r>
              <a:rPr lang="en-US" sz="2000" dirty="0"/>
              <a:t> industry in India. Small boutiques like </a:t>
            </a:r>
            <a:r>
              <a:rPr lang="en-US" sz="2000" b="1" dirty="0"/>
              <a:t>Scandal Men's Wear, Thane</a:t>
            </a:r>
            <a:r>
              <a:rPr lang="en-US" sz="2000" dirty="0"/>
              <a:t> have loyal local customers but </a:t>
            </a:r>
            <a:r>
              <a:rPr lang="en-US" sz="2000" b="1" dirty="0"/>
              <a:t>no digital presence</a:t>
            </a:r>
            <a:r>
              <a:rPr lang="en-US" sz="2000" dirty="0"/>
              <a:t>, limiting their reach and growth potential. Without an online platform, customers must visit the store physically to browse and purchase, there is no size guidance leading to wrong purchases and returns, and the business has no visibility beyond its local area. Additionally, the absence of order tracking and flexible payment options further reduces customer convenience and trust.</a:t>
            </a:r>
          </a:p>
          <a:p>
            <a:r>
              <a:rPr lang="en-US" sz="2000" dirty="0"/>
              <a:t>To address these challenges, there is a clear </a:t>
            </a:r>
            <a:r>
              <a:rPr lang="en-US" sz="2000" b="1" dirty="0"/>
              <a:t>need for a full-stack, responsive e-commerce web platform</a:t>
            </a:r>
            <a:r>
              <a:rPr lang="en-US" sz="2000" dirty="0"/>
              <a:t> that digitizes the complete shopping experience — from product browsing to secure checkout, order tracking, and personalized recommendations. This project also aligns with </a:t>
            </a:r>
            <a:r>
              <a:rPr lang="en-US" sz="2000" b="1" dirty="0"/>
              <a:t>SDG 8 – Decent Work &amp; Economic Growth</a:t>
            </a:r>
            <a:r>
              <a:rPr lang="en-US" sz="2000" dirty="0"/>
              <a:t>, as it empowers a small Indian traditional wear business to scale digitally, reach a wider audience, and grow sustainably through technology.</a:t>
            </a:r>
          </a:p>
          <a:p>
            <a:pPr marL="114300" indent="0">
              <a:lnSpc>
                <a:spcPct val="150000"/>
              </a:lnSpc>
              <a:spcBef>
                <a:spcPts val="0"/>
              </a:spcBef>
              <a:buClr>
                <a:schemeClr val="dk1"/>
              </a:buClr>
              <a:buSzPts val="1960"/>
              <a:buNone/>
            </a:pPr>
            <a:endParaRPr lang="en-US" sz="2000" dirty="0">
              <a:solidFill>
                <a:schemeClr val="dk1"/>
              </a:solidFill>
              <a:latin typeface="Fira Sans"/>
              <a:ea typeface="Fira Sans"/>
              <a:cs typeface="Fira Sans"/>
              <a:sym typeface="Fira Sans"/>
            </a:endParaRPr>
          </a:p>
        </p:txBody>
      </p:sp>
    </p:spTree>
    <p:extLst>
      <p:ext uri="{BB962C8B-B14F-4D97-AF65-F5344CB8AC3E}">
        <p14:creationId xmlns:p14="http://schemas.microsoft.com/office/powerpoint/2010/main" val="3593606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61770-CA6A-B8C3-7FA3-68CBC1BE9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16611-7D71-055B-6114-01B24B10866E}"/>
              </a:ext>
            </a:extLst>
          </p:cNvPr>
          <p:cNvSpPr>
            <a:spLocks noGrp="1"/>
          </p:cNvSpPr>
          <p:nvPr>
            <p:ph type="title"/>
          </p:nvPr>
        </p:nvSpPr>
        <p:spPr>
          <a:xfrm>
            <a:off x="464614" y="705852"/>
            <a:ext cx="11262772" cy="824414"/>
          </a:xfrm>
        </p:spPr>
        <p:txBody>
          <a:bodyPr>
            <a:normAutofit/>
          </a:bodyPr>
          <a:lstStyle/>
          <a:p>
            <a:r>
              <a:rPr lang="en-IN" sz="3200" u="sng" dirty="0">
                <a:solidFill>
                  <a:srgbClr val="C00000"/>
                </a:solidFill>
                <a:latin typeface="Times New Roman" panose="02020603050405020304" pitchFamily="18" charset="0"/>
                <a:cs typeface="Times New Roman" panose="02020603050405020304" pitchFamily="18" charset="0"/>
              </a:rPr>
              <a:t>Project Objectives </a:t>
            </a:r>
          </a:p>
        </p:txBody>
      </p:sp>
      <p:pic>
        <p:nvPicPr>
          <p:cNvPr id="4" name="Picture 3">
            <a:extLst>
              <a:ext uri="{FF2B5EF4-FFF2-40B4-BE49-F238E27FC236}">
                <a16:creationId xmlns:a16="http://schemas.microsoft.com/office/drawing/2014/main" id="{99DE5FFE-F763-1E9A-2FC8-08FDBBC9D426}"/>
              </a:ext>
            </a:extLst>
          </p:cNvPr>
          <p:cNvPicPr>
            <a:picLocks noChangeAspect="1"/>
          </p:cNvPicPr>
          <p:nvPr/>
        </p:nvPicPr>
        <p:blipFill>
          <a:blip r:embed="rId2"/>
          <a:stretch>
            <a:fillRect/>
          </a:stretch>
        </p:blipFill>
        <p:spPr>
          <a:xfrm>
            <a:off x="116316" y="1530266"/>
            <a:ext cx="11959367" cy="3137987"/>
          </a:xfrm>
          <a:prstGeom prst="rect">
            <a:avLst/>
          </a:prstGeom>
        </p:spPr>
      </p:pic>
    </p:spTree>
    <p:extLst>
      <p:ext uri="{BB962C8B-B14F-4D97-AF65-F5344CB8AC3E}">
        <p14:creationId xmlns:p14="http://schemas.microsoft.com/office/powerpoint/2010/main" val="26896024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83B24-B109-8A37-A687-5ABE9D6406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F51823-4936-2387-24C3-595B9D64E427}"/>
              </a:ext>
            </a:extLst>
          </p:cNvPr>
          <p:cNvSpPr>
            <a:spLocks noGrp="1"/>
          </p:cNvSpPr>
          <p:nvPr>
            <p:ph type="title"/>
          </p:nvPr>
        </p:nvSpPr>
        <p:spPr>
          <a:xfrm>
            <a:off x="464614" y="705852"/>
            <a:ext cx="11262772" cy="824414"/>
          </a:xfrm>
        </p:spPr>
        <p:txBody>
          <a:bodyPr>
            <a:normAutofit/>
          </a:bodyPr>
          <a:lstStyle/>
          <a:p>
            <a:r>
              <a:rPr lang="en-IN" sz="3200" u="sng" dirty="0">
                <a:solidFill>
                  <a:srgbClr val="C00000"/>
                </a:solidFill>
                <a:latin typeface="Times New Roman" panose="02020603050405020304" pitchFamily="18" charset="0"/>
                <a:cs typeface="Times New Roman" panose="02020603050405020304" pitchFamily="18" charset="0"/>
              </a:rPr>
              <a:t>Tools &amp; Technologies Used </a:t>
            </a:r>
          </a:p>
        </p:txBody>
      </p:sp>
      <p:pic>
        <p:nvPicPr>
          <p:cNvPr id="5" name="Picture 4">
            <a:extLst>
              <a:ext uri="{FF2B5EF4-FFF2-40B4-BE49-F238E27FC236}">
                <a16:creationId xmlns:a16="http://schemas.microsoft.com/office/drawing/2014/main" id="{254E97F2-63CB-0163-401E-7893F50BD213}"/>
              </a:ext>
            </a:extLst>
          </p:cNvPr>
          <p:cNvPicPr>
            <a:picLocks noChangeAspect="1"/>
          </p:cNvPicPr>
          <p:nvPr/>
        </p:nvPicPr>
        <p:blipFill>
          <a:blip r:embed="rId2"/>
          <a:stretch>
            <a:fillRect/>
          </a:stretch>
        </p:blipFill>
        <p:spPr>
          <a:xfrm>
            <a:off x="231766" y="1645846"/>
            <a:ext cx="6112921" cy="1283992"/>
          </a:xfrm>
          <a:prstGeom prst="rect">
            <a:avLst/>
          </a:prstGeom>
        </p:spPr>
      </p:pic>
      <p:pic>
        <p:nvPicPr>
          <p:cNvPr id="7" name="Picture 6">
            <a:extLst>
              <a:ext uri="{FF2B5EF4-FFF2-40B4-BE49-F238E27FC236}">
                <a16:creationId xmlns:a16="http://schemas.microsoft.com/office/drawing/2014/main" id="{E0ADDFA6-AF0A-9767-36AD-A1689ADC3E37}"/>
              </a:ext>
            </a:extLst>
          </p:cNvPr>
          <p:cNvPicPr>
            <a:picLocks noChangeAspect="1"/>
          </p:cNvPicPr>
          <p:nvPr/>
        </p:nvPicPr>
        <p:blipFill>
          <a:blip r:embed="rId3"/>
          <a:stretch>
            <a:fillRect/>
          </a:stretch>
        </p:blipFill>
        <p:spPr>
          <a:xfrm>
            <a:off x="231766" y="3146962"/>
            <a:ext cx="6112920" cy="1283992"/>
          </a:xfrm>
          <a:prstGeom prst="rect">
            <a:avLst/>
          </a:prstGeom>
        </p:spPr>
      </p:pic>
      <p:pic>
        <p:nvPicPr>
          <p:cNvPr id="9" name="Picture 8">
            <a:extLst>
              <a:ext uri="{FF2B5EF4-FFF2-40B4-BE49-F238E27FC236}">
                <a16:creationId xmlns:a16="http://schemas.microsoft.com/office/drawing/2014/main" id="{5B3FA094-5B29-2BD7-DE2F-060A91A533B7}"/>
              </a:ext>
            </a:extLst>
          </p:cNvPr>
          <p:cNvPicPr>
            <a:picLocks noChangeAspect="1"/>
          </p:cNvPicPr>
          <p:nvPr/>
        </p:nvPicPr>
        <p:blipFill>
          <a:blip r:embed="rId4"/>
          <a:stretch>
            <a:fillRect/>
          </a:stretch>
        </p:blipFill>
        <p:spPr>
          <a:xfrm>
            <a:off x="231767" y="4648078"/>
            <a:ext cx="6112920" cy="923233"/>
          </a:xfrm>
          <a:prstGeom prst="rect">
            <a:avLst/>
          </a:prstGeom>
        </p:spPr>
      </p:pic>
      <p:sp>
        <p:nvSpPr>
          <p:cNvPr id="10" name="Google Shape;329;p2">
            <a:extLst>
              <a:ext uri="{FF2B5EF4-FFF2-40B4-BE49-F238E27FC236}">
                <a16:creationId xmlns:a16="http://schemas.microsoft.com/office/drawing/2014/main" id="{72800091-C0F9-6ACE-82B8-96C0FF404ED5}"/>
              </a:ext>
            </a:extLst>
          </p:cNvPr>
          <p:cNvSpPr txBox="1">
            <a:spLocks/>
          </p:cNvSpPr>
          <p:nvPr/>
        </p:nvSpPr>
        <p:spPr>
          <a:xfrm>
            <a:off x="6352741" y="1536532"/>
            <a:ext cx="7607852" cy="5751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marL="114300" indent="0">
              <a:lnSpc>
                <a:spcPct val="150000"/>
              </a:lnSpc>
              <a:spcBef>
                <a:spcPts val="0"/>
              </a:spcBef>
              <a:buClr>
                <a:schemeClr val="dk1"/>
              </a:buClr>
              <a:buSzPts val="1960"/>
              <a:buNone/>
            </a:pPr>
            <a:r>
              <a:rPr lang="en-US" sz="2000" dirty="0">
                <a:solidFill>
                  <a:srgbClr val="C00000"/>
                </a:solidFill>
                <a:latin typeface="Fira Sans"/>
                <a:ea typeface="Fira Sans"/>
                <a:cs typeface="Fira Sans"/>
                <a:sym typeface="Fira Sans"/>
              </a:rPr>
              <a:t>System Architecture</a:t>
            </a:r>
            <a:endParaRPr lang="en-US" sz="2000" dirty="0">
              <a:solidFill>
                <a:schemeClr val="dk1"/>
              </a:solidFill>
              <a:latin typeface="Fira Sans"/>
              <a:ea typeface="Fira Sans"/>
              <a:cs typeface="Fira Sans"/>
              <a:sym typeface="Fira Sans"/>
            </a:endParaRPr>
          </a:p>
          <a:p>
            <a:pPr>
              <a:lnSpc>
                <a:spcPct val="100000"/>
              </a:lnSpc>
              <a:spcBef>
                <a:spcPts val="0"/>
              </a:spcBef>
              <a:buClr>
                <a:schemeClr val="dk1"/>
              </a:buClr>
              <a:buSzPts val="1960"/>
            </a:pPr>
            <a:endParaRPr lang="en-US" sz="2000" dirty="0">
              <a:solidFill>
                <a:schemeClr val="dk1"/>
              </a:solidFill>
              <a:latin typeface="Fira Sans"/>
              <a:ea typeface="Fira Sans"/>
              <a:cs typeface="Fira Sans"/>
              <a:sym typeface="Fira Sans"/>
            </a:endParaRPr>
          </a:p>
        </p:txBody>
      </p:sp>
      <p:pic>
        <p:nvPicPr>
          <p:cNvPr id="12" name="Picture 11">
            <a:extLst>
              <a:ext uri="{FF2B5EF4-FFF2-40B4-BE49-F238E27FC236}">
                <a16:creationId xmlns:a16="http://schemas.microsoft.com/office/drawing/2014/main" id="{BE2AED03-D86D-BC7A-7BC5-52B38C236493}"/>
              </a:ext>
            </a:extLst>
          </p:cNvPr>
          <p:cNvPicPr>
            <a:picLocks noChangeAspect="1"/>
          </p:cNvPicPr>
          <p:nvPr/>
        </p:nvPicPr>
        <p:blipFill>
          <a:blip r:embed="rId5"/>
          <a:srcRect r="35044"/>
          <a:stretch>
            <a:fillRect/>
          </a:stretch>
        </p:blipFill>
        <p:spPr>
          <a:xfrm>
            <a:off x="6362573" y="2041640"/>
            <a:ext cx="5374645" cy="2399146"/>
          </a:xfrm>
          <a:prstGeom prst="rect">
            <a:avLst/>
          </a:prstGeom>
        </p:spPr>
      </p:pic>
    </p:spTree>
    <p:extLst>
      <p:ext uri="{BB962C8B-B14F-4D97-AF65-F5344CB8AC3E}">
        <p14:creationId xmlns:p14="http://schemas.microsoft.com/office/powerpoint/2010/main" val="3951221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ADE35-6F31-3EF2-87E0-DAAA36211A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14D73A-0AE8-4D49-5E5C-543F9D72A2C1}"/>
              </a:ext>
            </a:extLst>
          </p:cNvPr>
          <p:cNvSpPr>
            <a:spLocks noGrp="1"/>
          </p:cNvSpPr>
          <p:nvPr>
            <p:ph type="title"/>
          </p:nvPr>
        </p:nvSpPr>
        <p:spPr>
          <a:xfrm>
            <a:off x="464614" y="705852"/>
            <a:ext cx="11262772" cy="824414"/>
          </a:xfrm>
        </p:spPr>
        <p:txBody>
          <a:bodyPr>
            <a:normAutofit/>
          </a:bodyPr>
          <a:lstStyle/>
          <a:p>
            <a:r>
              <a:rPr lang="en-IN" sz="3200" u="sng" dirty="0">
                <a:solidFill>
                  <a:srgbClr val="C00000"/>
                </a:solidFill>
                <a:latin typeface="Times New Roman" panose="02020603050405020304" pitchFamily="18" charset="0"/>
                <a:cs typeface="Times New Roman" panose="02020603050405020304" pitchFamily="18" charset="0"/>
              </a:rPr>
              <a:t>UI Design – Homepage &amp; Product Catalogue </a:t>
            </a:r>
          </a:p>
        </p:txBody>
      </p:sp>
      <p:sp>
        <p:nvSpPr>
          <p:cNvPr id="11" name="Google Shape;329;p2">
            <a:extLst>
              <a:ext uri="{FF2B5EF4-FFF2-40B4-BE49-F238E27FC236}">
                <a16:creationId xmlns:a16="http://schemas.microsoft.com/office/drawing/2014/main" id="{D937405D-F12A-B889-094B-DB4A2107A104}"/>
              </a:ext>
            </a:extLst>
          </p:cNvPr>
          <p:cNvSpPr txBox="1">
            <a:spLocks/>
          </p:cNvSpPr>
          <p:nvPr/>
        </p:nvSpPr>
        <p:spPr>
          <a:xfrm>
            <a:off x="-122386" y="4829050"/>
            <a:ext cx="6310547" cy="235743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a:lnSpc>
                <a:spcPct val="150000"/>
              </a:lnSpc>
              <a:spcBef>
                <a:spcPts val="0"/>
              </a:spcBef>
              <a:buClr>
                <a:schemeClr val="dk1"/>
              </a:buClr>
              <a:buSzPts val="1960"/>
              <a:buFont typeface="Wingdings" panose="05000000000000000000" pitchFamily="2" charset="2"/>
              <a:buChar char="Ø"/>
            </a:pPr>
            <a:r>
              <a:rPr lang="en-US" sz="1800" dirty="0">
                <a:solidFill>
                  <a:srgbClr val="C00000"/>
                </a:solidFill>
                <a:latin typeface="Fira Sans"/>
                <a:ea typeface="Fira Sans"/>
                <a:cs typeface="Fira Sans"/>
                <a:sym typeface="Fira Sans"/>
              </a:rPr>
              <a:t>Custom gold schema + </a:t>
            </a:r>
            <a:r>
              <a:rPr lang="en-US" sz="1800" dirty="0">
                <a:solidFill>
                  <a:schemeClr val="tx1"/>
                </a:solidFill>
                <a:latin typeface="Fira Sans"/>
                <a:ea typeface="Fira Sans"/>
                <a:cs typeface="Fira Sans"/>
                <a:sym typeface="Fira Sans"/>
              </a:rPr>
              <a:t>Playfair Display typography</a:t>
            </a:r>
          </a:p>
          <a:p>
            <a:pPr>
              <a:lnSpc>
                <a:spcPct val="150000"/>
              </a:lnSpc>
              <a:spcBef>
                <a:spcPts val="0"/>
              </a:spcBef>
              <a:buClr>
                <a:schemeClr val="dk1"/>
              </a:buClr>
              <a:buSzPts val="1960"/>
              <a:buFont typeface="Wingdings" panose="05000000000000000000" pitchFamily="2" charset="2"/>
              <a:buChar char="Ø"/>
            </a:pPr>
            <a:r>
              <a:rPr lang="en-US" sz="1800" dirty="0">
                <a:solidFill>
                  <a:srgbClr val="C00000"/>
                </a:solidFill>
                <a:latin typeface="Fira Sans"/>
                <a:ea typeface="Fira Sans"/>
                <a:cs typeface="Fira Sans"/>
                <a:sym typeface="Fira Sans"/>
              </a:rPr>
              <a:t>Dark/Light mode </a:t>
            </a:r>
            <a:r>
              <a:rPr lang="en-US" sz="1800" dirty="0">
                <a:solidFill>
                  <a:schemeClr val="tx1"/>
                </a:solidFill>
                <a:latin typeface="Fira Sans"/>
                <a:ea typeface="Fira Sans"/>
                <a:cs typeface="Fira Sans"/>
                <a:sym typeface="Fira Sans"/>
              </a:rPr>
              <a:t>toggle with </a:t>
            </a:r>
            <a:r>
              <a:rPr lang="en-US" sz="1800" dirty="0" err="1">
                <a:solidFill>
                  <a:schemeClr val="tx1"/>
                </a:solidFill>
                <a:latin typeface="Fira Sans"/>
                <a:ea typeface="Fira Sans"/>
                <a:cs typeface="Fira Sans"/>
                <a:sym typeface="Fira Sans"/>
              </a:rPr>
              <a:t>LocalStorage</a:t>
            </a:r>
            <a:r>
              <a:rPr lang="en-US" sz="1800" dirty="0">
                <a:solidFill>
                  <a:schemeClr val="tx1"/>
                </a:solidFill>
                <a:latin typeface="Fira Sans"/>
                <a:ea typeface="Fira Sans"/>
                <a:cs typeface="Fira Sans"/>
                <a:sym typeface="Fira Sans"/>
              </a:rPr>
              <a:t> </a:t>
            </a:r>
            <a:r>
              <a:rPr lang="en-US" sz="1800" dirty="0" err="1">
                <a:solidFill>
                  <a:schemeClr val="tx1"/>
                </a:solidFill>
                <a:latin typeface="Fira Sans"/>
                <a:ea typeface="Fira Sans"/>
                <a:cs typeface="Fira Sans"/>
                <a:sym typeface="Fira Sans"/>
              </a:rPr>
              <a:t>persistance</a:t>
            </a:r>
            <a:endParaRPr lang="en-US" sz="1800" dirty="0">
              <a:solidFill>
                <a:schemeClr val="tx1"/>
              </a:solidFill>
              <a:latin typeface="Fira Sans"/>
              <a:ea typeface="Fira Sans"/>
              <a:cs typeface="Fira Sans"/>
              <a:sym typeface="Fira Sans"/>
            </a:endParaRPr>
          </a:p>
        </p:txBody>
      </p:sp>
      <p:pic>
        <p:nvPicPr>
          <p:cNvPr id="3" name="Picture 2">
            <a:extLst>
              <a:ext uri="{FF2B5EF4-FFF2-40B4-BE49-F238E27FC236}">
                <a16:creationId xmlns:a16="http://schemas.microsoft.com/office/drawing/2014/main" id="{7635F6B0-3705-4F61-E954-48FAC431501E}"/>
              </a:ext>
            </a:extLst>
          </p:cNvPr>
          <p:cNvPicPr>
            <a:picLocks noChangeAspect="1"/>
          </p:cNvPicPr>
          <p:nvPr/>
        </p:nvPicPr>
        <p:blipFill>
          <a:blip r:embed="rId2"/>
          <a:srcRect b="27270"/>
          <a:stretch>
            <a:fillRect/>
          </a:stretch>
        </p:blipFill>
        <p:spPr>
          <a:xfrm>
            <a:off x="184322" y="1513060"/>
            <a:ext cx="5697132" cy="3235403"/>
          </a:xfrm>
          <a:prstGeom prst="rect">
            <a:avLst/>
          </a:prstGeom>
        </p:spPr>
      </p:pic>
      <p:pic>
        <p:nvPicPr>
          <p:cNvPr id="4" name="Picture 3">
            <a:extLst>
              <a:ext uri="{FF2B5EF4-FFF2-40B4-BE49-F238E27FC236}">
                <a16:creationId xmlns:a16="http://schemas.microsoft.com/office/drawing/2014/main" id="{79811524-9DB7-4B5C-E332-02021DB16962}"/>
              </a:ext>
            </a:extLst>
          </p:cNvPr>
          <p:cNvPicPr>
            <a:picLocks noChangeAspect="1"/>
          </p:cNvPicPr>
          <p:nvPr/>
        </p:nvPicPr>
        <p:blipFill>
          <a:blip r:embed="rId3"/>
          <a:srcRect b="27412"/>
          <a:stretch>
            <a:fillRect/>
          </a:stretch>
        </p:blipFill>
        <p:spPr>
          <a:xfrm>
            <a:off x="6188161" y="1513059"/>
            <a:ext cx="5708291" cy="3235403"/>
          </a:xfrm>
          <a:prstGeom prst="rect">
            <a:avLst/>
          </a:prstGeom>
        </p:spPr>
      </p:pic>
      <p:sp>
        <p:nvSpPr>
          <p:cNvPr id="6" name="Google Shape;329;p2">
            <a:extLst>
              <a:ext uri="{FF2B5EF4-FFF2-40B4-BE49-F238E27FC236}">
                <a16:creationId xmlns:a16="http://schemas.microsoft.com/office/drawing/2014/main" id="{860B8835-5BB2-ADDF-2FBF-2695DFF2109F}"/>
              </a:ext>
            </a:extLst>
          </p:cNvPr>
          <p:cNvSpPr txBox="1">
            <a:spLocks/>
          </p:cNvSpPr>
          <p:nvPr/>
        </p:nvSpPr>
        <p:spPr>
          <a:xfrm>
            <a:off x="6014669" y="4829050"/>
            <a:ext cx="6310547" cy="10263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a:lnSpc>
                <a:spcPct val="150000"/>
              </a:lnSpc>
              <a:spcBef>
                <a:spcPts val="0"/>
              </a:spcBef>
              <a:buClr>
                <a:schemeClr val="dk1"/>
              </a:buClr>
              <a:buSzPts val="1960"/>
              <a:buFont typeface="Wingdings" panose="05000000000000000000" pitchFamily="2" charset="2"/>
              <a:buChar char="Ø"/>
            </a:pPr>
            <a:r>
              <a:rPr lang="en-US" sz="1800" dirty="0">
                <a:solidFill>
                  <a:srgbClr val="C00000"/>
                </a:solidFill>
                <a:latin typeface="Fira Sans"/>
                <a:ea typeface="Fira Sans"/>
                <a:cs typeface="Fira Sans"/>
                <a:sym typeface="Fira Sans"/>
              </a:rPr>
              <a:t>Animated product </a:t>
            </a:r>
            <a:r>
              <a:rPr lang="en-US" sz="1800" dirty="0" err="1">
                <a:solidFill>
                  <a:srgbClr val="C00000"/>
                </a:solidFill>
                <a:latin typeface="Fira Sans"/>
                <a:ea typeface="Fira Sans"/>
                <a:cs typeface="Fira Sans"/>
                <a:sym typeface="Fira Sans"/>
              </a:rPr>
              <a:t>bagdes</a:t>
            </a:r>
            <a:r>
              <a:rPr lang="en-US" sz="1800" dirty="0">
                <a:solidFill>
                  <a:schemeClr val="tx1"/>
                </a:solidFill>
                <a:latin typeface="Fira Sans"/>
                <a:ea typeface="Fira Sans"/>
                <a:cs typeface="Fira Sans"/>
                <a:sym typeface="Fira Sans"/>
              </a:rPr>
              <a:t> (Bestseller, New, Trending)</a:t>
            </a:r>
          </a:p>
          <a:p>
            <a:pPr>
              <a:lnSpc>
                <a:spcPct val="150000"/>
              </a:lnSpc>
              <a:spcBef>
                <a:spcPts val="0"/>
              </a:spcBef>
              <a:buClr>
                <a:schemeClr val="dk1"/>
              </a:buClr>
              <a:buSzPts val="1960"/>
              <a:buFont typeface="Wingdings" panose="05000000000000000000" pitchFamily="2" charset="2"/>
              <a:buChar char="Ø"/>
            </a:pPr>
            <a:r>
              <a:rPr lang="en-US" sz="1800" dirty="0">
                <a:solidFill>
                  <a:schemeClr val="tx1"/>
                </a:solidFill>
                <a:latin typeface="Fira Sans"/>
                <a:ea typeface="Fira Sans"/>
                <a:cs typeface="Fira Sans"/>
                <a:sym typeface="Fira Sans"/>
              </a:rPr>
              <a:t>Delivery date shown dynamically on every card</a:t>
            </a:r>
          </a:p>
        </p:txBody>
      </p:sp>
    </p:spTree>
    <p:extLst>
      <p:ext uri="{BB962C8B-B14F-4D97-AF65-F5344CB8AC3E}">
        <p14:creationId xmlns:p14="http://schemas.microsoft.com/office/powerpoint/2010/main" val="3892930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53B80-F42D-CA79-E8B3-775D84898F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D1CD60-9FBD-FABA-7D80-7DCBB1604A7F}"/>
              </a:ext>
            </a:extLst>
          </p:cNvPr>
          <p:cNvSpPr>
            <a:spLocks noGrp="1"/>
          </p:cNvSpPr>
          <p:nvPr>
            <p:ph type="title"/>
          </p:nvPr>
        </p:nvSpPr>
        <p:spPr>
          <a:xfrm>
            <a:off x="464614" y="705852"/>
            <a:ext cx="11262772" cy="824414"/>
          </a:xfrm>
        </p:spPr>
        <p:txBody>
          <a:bodyPr>
            <a:normAutofit/>
          </a:bodyPr>
          <a:lstStyle/>
          <a:p>
            <a:r>
              <a:rPr lang="en-IN" sz="3200" u="sng" dirty="0">
                <a:solidFill>
                  <a:srgbClr val="C00000"/>
                </a:solidFill>
                <a:latin typeface="Times New Roman" panose="02020603050405020304" pitchFamily="18" charset="0"/>
                <a:cs typeface="Times New Roman" panose="02020603050405020304" pitchFamily="18" charset="0"/>
              </a:rPr>
              <a:t>Smart User Features – AI Stylist &amp; Size Consultant</a:t>
            </a:r>
          </a:p>
        </p:txBody>
      </p:sp>
      <p:sp>
        <p:nvSpPr>
          <p:cNvPr id="11" name="Google Shape;329;p2">
            <a:extLst>
              <a:ext uri="{FF2B5EF4-FFF2-40B4-BE49-F238E27FC236}">
                <a16:creationId xmlns:a16="http://schemas.microsoft.com/office/drawing/2014/main" id="{3B1EA7E1-C112-B073-C913-CBF61F40CE45}"/>
              </a:ext>
            </a:extLst>
          </p:cNvPr>
          <p:cNvSpPr txBox="1">
            <a:spLocks/>
          </p:cNvSpPr>
          <p:nvPr/>
        </p:nvSpPr>
        <p:spPr>
          <a:xfrm>
            <a:off x="268668" y="5037844"/>
            <a:ext cx="6310547" cy="10263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a:lnSpc>
                <a:spcPct val="150000"/>
              </a:lnSpc>
              <a:spcBef>
                <a:spcPts val="0"/>
              </a:spcBef>
              <a:buClr>
                <a:schemeClr val="dk1"/>
              </a:buClr>
              <a:buSzPts val="1960"/>
              <a:buFont typeface="Wingdings" panose="05000000000000000000" pitchFamily="2" charset="2"/>
              <a:buChar char="Ø"/>
            </a:pPr>
            <a:r>
              <a:rPr lang="en-US" sz="1800" dirty="0">
                <a:solidFill>
                  <a:schemeClr val="tx1"/>
                </a:solidFill>
                <a:latin typeface="Fira Sans"/>
                <a:ea typeface="Fira Sans"/>
                <a:cs typeface="Fira Sans"/>
                <a:sym typeface="Fira Sans"/>
              </a:rPr>
              <a:t>12 outfit recipes across 4 occasions</a:t>
            </a:r>
          </a:p>
          <a:p>
            <a:pPr>
              <a:lnSpc>
                <a:spcPct val="150000"/>
              </a:lnSpc>
              <a:spcBef>
                <a:spcPts val="0"/>
              </a:spcBef>
              <a:buClr>
                <a:schemeClr val="dk1"/>
              </a:buClr>
              <a:buSzPts val="1960"/>
              <a:buFont typeface="Wingdings" panose="05000000000000000000" pitchFamily="2" charset="2"/>
              <a:buChar char="Ø"/>
            </a:pPr>
            <a:r>
              <a:rPr lang="en-US" sz="1800" dirty="0">
                <a:solidFill>
                  <a:srgbClr val="C00000"/>
                </a:solidFill>
                <a:latin typeface="Fira Sans"/>
                <a:ea typeface="Fira Sans"/>
                <a:cs typeface="Fira Sans"/>
                <a:sym typeface="Fira Sans"/>
              </a:rPr>
              <a:t>“Add full look to Cart” – </a:t>
            </a:r>
            <a:r>
              <a:rPr lang="en-US" sz="1800" dirty="0">
                <a:solidFill>
                  <a:schemeClr val="tx1"/>
                </a:solidFill>
                <a:latin typeface="Fira Sans"/>
                <a:ea typeface="Fira Sans"/>
                <a:cs typeface="Fira Sans"/>
                <a:sym typeface="Fira Sans"/>
              </a:rPr>
              <a:t>One-click shopping</a:t>
            </a:r>
          </a:p>
        </p:txBody>
      </p:sp>
      <p:sp>
        <p:nvSpPr>
          <p:cNvPr id="6" name="Google Shape;329;p2">
            <a:extLst>
              <a:ext uri="{FF2B5EF4-FFF2-40B4-BE49-F238E27FC236}">
                <a16:creationId xmlns:a16="http://schemas.microsoft.com/office/drawing/2014/main" id="{13A46E28-A3B0-5AB7-6FCE-AF348A79D4A4}"/>
              </a:ext>
            </a:extLst>
          </p:cNvPr>
          <p:cNvSpPr txBox="1">
            <a:spLocks/>
          </p:cNvSpPr>
          <p:nvPr/>
        </p:nvSpPr>
        <p:spPr>
          <a:xfrm>
            <a:off x="6238434" y="5033179"/>
            <a:ext cx="6310547" cy="102631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a:lnSpc>
                <a:spcPct val="150000"/>
              </a:lnSpc>
              <a:spcBef>
                <a:spcPts val="0"/>
              </a:spcBef>
              <a:buClr>
                <a:schemeClr val="dk1"/>
              </a:buClr>
              <a:buSzPts val="1960"/>
              <a:buFont typeface="Wingdings" panose="05000000000000000000" pitchFamily="2" charset="2"/>
              <a:buChar char="Ø"/>
            </a:pPr>
            <a:r>
              <a:rPr lang="en-US" sz="1800" dirty="0">
                <a:solidFill>
                  <a:schemeClr val="tx1"/>
                </a:solidFill>
                <a:latin typeface="Fira Sans"/>
                <a:ea typeface="Fira Sans"/>
                <a:cs typeface="Fira Sans"/>
                <a:sym typeface="Fira Sans"/>
              </a:rPr>
              <a:t>Metric &amp; imperial units supported</a:t>
            </a:r>
          </a:p>
          <a:p>
            <a:pPr>
              <a:lnSpc>
                <a:spcPct val="150000"/>
              </a:lnSpc>
              <a:spcBef>
                <a:spcPts val="0"/>
              </a:spcBef>
              <a:buClr>
                <a:schemeClr val="dk1"/>
              </a:buClr>
              <a:buSzPts val="1960"/>
              <a:buFont typeface="Wingdings" panose="05000000000000000000" pitchFamily="2" charset="2"/>
              <a:buChar char="Ø"/>
            </a:pPr>
            <a:r>
              <a:rPr lang="en-US" sz="1800" dirty="0">
                <a:solidFill>
                  <a:srgbClr val="C00000"/>
                </a:solidFill>
                <a:latin typeface="Fira Sans"/>
                <a:ea typeface="Fira Sans"/>
                <a:cs typeface="Fira Sans"/>
                <a:sym typeface="Fira Sans"/>
              </a:rPr>
              <a:t>Auto-fills size dropdown </a:t>
            </a:r>
            <a:r>
              <a:rPr lang="en-US" sz="1800" dirty="0">
                <a:solidFill>
                  <a:schemeClr val="tx1"/>
                </a:solidFill>
                <a:latin typeface="Fira Sans"/>
                <a:ea typeface="Fira Sans"/>
                <a:cs typeface="Fira Sans"/>
                <a:sym typeface="Fira Sans"/>
              </a:rPr>
              <a:t>on product card</a:t>
            </a:r>
          </a:p>
        </p:txBody>
      </p:sp>
      <p:sp>
        <p:nvSpPr>
          <p:cNvPr id="5" name="Google Shape;329;p2">
            <a:extLst>
              <a:ext uri="{FF2B5EF4-FFF2-40B4-BE49-F238E27FC236}">
                <a16:creationId xmlns:a16="http://schemas.microsoft.com/office/drawing/2014/main" id="{93AE55CB-1583-F5FC-5F8D-D5C4FD74B36F}"/>
              </a:ext>
            </a:extLst>
          </p:cNvPr>
          <p:cNvSpPr txBox="1">
            <a:spLocks/>
          </p:cNvSpPr>
          <p:nvPr/>
        </p:nvSpPr>
        <p:spPr>
          <a:xfrm>
            <a:off x="268668" y="1402306"/>
            <a:ext cx="3682755" cy="47129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a:lnSpc>
                <a:spcPct val="150000"/>
              </a:lnSpc>
              <a:spcBef>
                <a:spcPts val="0"/>
              </a:spcBef>
              <a:buClr>
                <a:schemeClr val="dk1"/>
              </a:buClr>
              <a:buSzPts val="1960"/>
              <a:buFont typeface="Wingdings" panose="05000000000000000000" pitchFamily="2" charset="2"/>
              <a:buChar char="Ø"/>
            </a:pPr>
            <a:r>
              <a:rPr lang="en-US" sz="1800" dirty="0">
                <a:solidFill>
                  <a:srgbClr val="C00000"/>
                </a:solidFill>
                <a:latin typeface="Fira Sans"/>
                <a:ea typeface="Fira Sans"/>
                <a:cs typeface="Fira Sans"/>
                <a:sym typeface="Fira Sans"/>
              </a:rPr>
              <a:t>AI Wardrobe stylist </a:t>
            </a:r>
          </a:p>
        </p:txBody>
      </p:sp>
      <p:sp>
        <p:nvSpPr>
          <p:cNvPr id="7" name="Google Shape;329;p2">
            <a:extLst>
              <a:ext uri="{FF2B5EF4-FFF2-40B4-BE49-F238E27FC236}">
                <a16:creationId xmlns:a16="http://schemas.microsoft.com/office/drawing/2014/main" id="{D4C94ADC-B2E9-63E0-E4A8-B71BAAC68D70}"/>
              </a:ext>
            </a:extLst>
          </p:cNvPr>
          <p:cNvSpPr txBox="1">
            <a:spLocks/>
          </p:cNvSpPr>
          <p:nvPr/>
        </p:nvSpPr>
        <p:spPr>
          <a:xfrm>
            <a:off x="6238434" y="1402306"/>
            <a:ext cx="3682755" cy="47129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a:lnSpc>
                <a:spcPct val="150000"/>
              </a:lnSpc>
              <a:spcBef>
                <a:spcPts val="0"/>
              </a:spcBef>
              <a:buClr>
                <a:schemeClr val="dk1"/>
              </a:buClr>
              <a:buSzPts val="1960"/>
              <a:buFont typeface="Wingdings" panose="05000000000000000000" pitchFamily="2" charset="2"/>
              <a:buChar char="Ø"/>
            </a:pPr>
            <a:r>
              <a:rPr lang="en-US" sz="1800" dirty="0">
                <a:solidFill>
                  <a:srgbClr val="C00000"/>
                </a:solidFill>
                <a:latin typeface="Fira Sans"/>
                <a:ea typeface="Fira Sans"/>
                <a:cs typeface="Fira Sans"/>
                <a:sym typeface="Fira Sans"/>
              </a:rPr>
              <a:t>Interactive Size Consultant</a:t>
            </a:r>
          </a:p>
        </p:txBody>
      </p:sp>
      <p:pic>
        <p:nvPicPr>
          <p:cNvPr id="9" name="Picture 8">
            <a:extLst>
              <a:ext uri="{FF2B5EF4-FFF2-40B4-BE49-F238E27FC236}">
                <a16:creationId xmlns:a16="http://schemas.microsoft.com/office/drawing/2014/main" id="{9B0FA385-7712-5D64-D7AF-58F3204C35A6}"/>
              </a:ext>
            </a:extLst>
          </p:cNvPr>
          <p:cNvPicPr>
            <a:picLocks noChangeAspect="1"/>
          </p:cNvPicPr>
          <p:nvPr/>
        </p:nvPicPr>
        <p:blipFill>
          <a:blip r:embed="rId2"/>
          <a:srcRect t="13670" b="16462"/>
          <a:stretch>
            <a:fillRect/>
          </a:stretch>
        </p:blipFill>
        <p:spPr>
          <a:xfrm>
            <a:off x="268668" y="1927053"/>
            <a:ext cx="5612786" cy="3062008"/>
          </a:xfrm>
          <a:prstGeom prst="rect">
            <a:avLst/>
          </a:prstGeom>
        </p:spPr>
      </p:pic>
      <p:pic>
        <p:nvPicPr>
          <p:cNvPr id="12" name="Picture 11">
            <a:extLst>
              <a:ext uri="{FF2B5EF4-FFF2-40B4-BE49-F238E27FC236}">
                <a16:creationId xmlns:a16="http://schemas.microsoft.com/office/drawing/2014/main" id="{BAD468E1-F100-4796-70F0-40C7E1960B3A}"/>
              </a:ext>
            </a:extLst>
          </p:cNvPr>
          <p:cNvPicPr>
            <a:picLocks noChangeAspect="1"/>
          </p:cNvPicPr>
          <p:nvPr/>
        </p:nvPicPr>
        <p:blipFill>
          <a:blip r:embed="rId3"/>
          <a:srcRect t="16312" b="14334"/>
          <a:stretch>
            <a:fillRect/>
          </a:stretch>
        </p:blipFill>
        <p:spPr>
          <a:xfrm>
            <a:off x="6238434" y="1927053"/>
            <a:ext cx="5645648" cy="3057343"/>
          </a:xfrm>
          <a:prstGeom prst="rect">
            <a:avLst/>
          </a:prstGeom>
        </p:spPr>
      </p:pic>
    </p:spTree>
    <p:extLst>
      <p:ext uri="{BB962C8B-B14F-4D97-AF65-F5344CB8AC3E}">
        <p14:creationId xmlns:p14="http://schemas.microsoft.com/office/powerpoint/2010/main" val="13520685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7EE6F-8BA0-90FD-1DB3-AD60850CA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CF125D-3EBC-74D5-DA34-C27C87DFC7EE}"/>
              </a:ext>
            </a:extLst>
          </p:cNvPr>
          <p:cNvSpPr>
            <a:spLocks noGrp="1"/>
          </p:cNvSpPr>
          <p:nvPr>
            <p:ph type="title"/>
          </p:nvPr>
        </p:nvSpPr>
        <p:spPr>
          <a:xfrm>
            <a:off x="464614" y="705852"/>
            <a:ext cx="11262772" cy="824414"/>
          </a:xfrm>
        </p:spPr>
        <p:txBody>
          <a:bodyPr>
            <a:normAutofit/>
          </a:bodyPr>
          <a:lstStyle/>
          <a:p>
            <a:r>
              <a:rPr lang="en-IN" sz="3200" u="sng" dirty="0">
                <a:solidFill>
                  <a:srgbClr val="C00000"/>
                </a:solidFill>
                <a:latin typeface="Times New Roman" panose="02020603050405020304" pitchFamily="18" charset="0"/>
                <a:cs typeface="Times New Roman" panose="02020603050405020304" pitchFamily="18" charset="0"/>
              </a:rPr>
              <a:t>UI Design – Collections, Cart &amp; Authentication </a:t>
            </a:r>
          </a:p>
        </p:txBody>
      </p:sp>
      <p:pic>
        <p:nvPicPr>
          <p:cNvPr id="4" name="Picture 3">
            <a:extLst>
              <a:ext uri="{FF2B5EF4-FFF2-40B4-BE49-F238E27FC236}">
                <a16:creationId xmlns:a16="http://schemas.microsoft.com/office/drawing/2014/main" id="{8FCC9184-63A3-AA38-0017-4A39864B84B1}"/>
              </a:ext>
            </a:extLst>
          </p:cNvPr>
          <p:cNvPicPr>
            <a:picLocks noChangeAspect="1"/>
          </p:cNvPicPr>
          <p:nvPr/>
        </p:nvPicPr>
        <p:blipFill>
          <a:blip r:embed="rId2"/>
          <a:srcRect b="18449"/>
          <a:stretch>
            <a:fillRect/>
          </a:stretch>
        </p:blipFill>
        <p:spPr>
          <a:xfrm>
            <a:off x="263307" y="1530265"/>
            <a:ext cx="5708853" cy="3635293"/>
          </a:xfrm>
          <a:prstGeom prst="rect">
            <a:avLst/>
          </a:prstGeom>
        </p:spPr>
      </p:pic>
      <p:pic>
        <p:nvPicPr>
          <p:cNvPr id="8" name="Picture 7">
            <a:extLst>
              <a:ext uri="{FF2B5EF4-FFF2-40B4-BE49-F238E27FC236}">
                <a16:creationId xmlns:a16="http://schemas.microsoft.com/office/drawing/2014/main" id="{8DD1368D-151F-E3FF-8281-32AD47FF4B79}"/>
              </a:ext>
            </a:extLst>
          </p:cNvPr>
          <p:cNvPicPr>
            <a:picLocks noChangeAspect="1"/>
          </p:cNvPicPr>
          <p:nvPr/>
        </p:nvPicPr>
        <p:blipFill>
          <a:blip r:embed="rId3"/>
          <a:stretch>
            <a:fillRect/>
          </a:stretch>
        </p:blipFill>
        <p:spPr>
          <a:xfrm>
            <a:off x="6215230" y="1530266"/>
            <a:ext cx="5708853" cy="3635292"/>
          </a:xfrm>
          <a:prstGeom prst="rect">
            <a:avLst/>
          </a:prstGeom>
        </p:spPr>
      </p:pic>
    </p:spTree>
    <p:extLst>
      <p:ext uri="{BB962C8B-B14F-4D97-AF65-F5344CB8AC3E}">
        <p14:creationId xmlns:p14="http://schemas.microsoft.com/office/powerpoint/2010/main" val="2747721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6984D-77EA-ED5F-5C3C-5D5EA776D3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E239E-42DF-AE7A-1723-C2B30035FCA9}"/>
              </a:ext>
            </a:extLst>
          </p:cNvPr>
          <p:cNvSpPr>
            <a:spLocks noGrp="1"/>
          </p:cNvSpPr>
          <p:nvPr>
            <p:ph type="title"/>
          </p:nvPr>
        </p:nvSpPr>
        <p:spPr>
          <a:xfrm>
            <a:off x="464614" y="705852"/>
            <a:ext cx="11262772" cy="824414"/>
          </a:xfrm>
        </p:spPr>
        <p:txBody>
          <a:bodyPr>
            <a:normAutofit/>
          </a:bodyPr>
          <a:lstStyle/>
          <a:p>
            <a:r>
              <a:rPr lang="en-IN" sz="3200" u="sng" dirty="0">
                <a:solidFill>
                  <a:srgbClr val="C00000"/>
                </a:solidFill>
                <a:latin typeface="Times New Roman" panose="02020603050405020304" pitchFamily="18" charset="0"/>
                <a:cs typeface="Times New Roman" panose="02020603050405020304" pitchFamily="18" charset="0"/>
              </a:rPr>
              <a:t>Database Schema – MongoDB Collection Design</a:t>
            </a:r>
          </a:p>
        </p:txBody>
      </p:sp>
      <p:pic>
        <p:nvPicPr>
          <p:cNvPr id="5" name="Picture 4">
            <a:extLst>
              <a:ext uri="{FF2B5EF4-FFF2-40B4-BE49-F238E27FC236}">
                <a16:creationId xmlns:a16="http://schemas.microsoft.com/office/drawing/2014/main" id="{FD2719A9-9146-CF63-6ECB-5C71451CEDDD}"/>
              </a:ext>
            </a:extLst>
          </p:cNvPr>
          <p:cNvPicPr>
            <a:picLocks noChangeAspect="1"/>
          </p:cNvPicPr>
          <p:nvPr/>
        </p:nvPicPr>
        <p:blipFill>
          <a:blip r:embed="rId2"/>
          <a:stretch>
            <a:fillRect/>
          </a:stretch>
        </p:blipFill>
        <p:spPr>
          <a:xfrm>
            <a:off x="244433" y="1530266"/>
            <a:ext cx="11674851" cy="2576513"/>
          </a:xfrm>
          <a:prstGeom prst="rect">
            <a:avLst/>
          </a:prstGeom>
        </p:spPr>
      </p:pic>
      <p:pic>
        <p:nvPicPr>
          <p:cNvPr id="7" name="Picture 6">
            <a:extLst>
              <a:ext uri="{FF2B5EF4-FFF2-40B4-BE49-F238E27FC236}">
                <a16:creationId xmlns:a16="http://schemas.microsoft.com/office/drawing/2014/main" id="{BF6B036C-8A0E-BF70-7BF0-7F2FBF7D0452}"/>
              </a:ext>
            </a:extLst>
          </p:cNvPr>
          <p:cNvPicPr>
            <a:picLocks noChangeAspect="1"/>
          </p:cNvPicPr>
          <p:nvPr/>
        </p:nvPicPr>
        <p:blipFill>
          <a:blip r:embed="rId3"/>
          <a:stretch>
            <a:fillRect/>
          </a:stretch>
        </p:blipFill>
        <p:spPr>
          <a:xfrm>
            <a:off x="244433" y="4347757"/>
            <a:ext cx="11681969" cy="1166871"/>
          </a:xfrm>
          <a:prstGeom prst="rect">
            <a:avLst/>
          </a:prstGeom>
        </p:spPr>
      </p:pic>
    </p:spTree>
    <p:extLst>
      <p:ext uri="{BB962C8B-B14F-4D97-AF65-F5344CB8AC3E}">
        <p14:creationId xmlns:p14="http://schemas.microsoft.com/office/powerpoint/2010/main" val="10225848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0CCFA-A8C4-4E68-C6AC-0890345C82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B4AC14-F964-EC25-DFFA-BCCB78E8C682}"/>
              </a:ext>
            </a:extLst>
          </p:cNvPr>
          <p:cNvSpPr>
            <a:spLocks noGrp="1"/>
          </p:cNvSpPr>
          <p:nvPr>
            <p:ph type="title"/>
          </p:nvPr>
        </p:nvSpPr>
        <p:spPr>
          <a:xfrm>
            <a:off x="464614" y="705852"/>
            <a:ext cx="11262772" cy="824414"/>
          </a:xfrm>
        </p:spPr>
        <p:txBody>
          <a:bodyPr>
            <a:normAutofit/>
          </a:bodyPr>
          <a:lstStyle/>
          <a:p>
            <a:r>
              <a:rPr lang="en-IN" sz="3200" u="sng" dirty="0">
                <a:solidFill>
                  <a:srgbClr val="C00000"/>
                </a:solidFill>
                <a:latin typeface="Times New Roman" panose="02020603050405020304" pitchFamily="18" charset="0"/>
                <a:cs typeface="Times New Roman" panose="02020603050405020304" pitchFamily="18" charset="0"/>
              </a:rPr>
              <a:t>Future Scope &amp; Conclusion</a:t>
            </a:r>
          </a:p>
        </p:txBody>
      </p:sp>
      <p:sp>
        <p:nvSpPr>
          <p:cNvPr id="11" name="Google Shape;329;p2">
            <a:extLst>
              <a:ext uri="{FF2B5EF4-FFF2-40B4-BE49-F238E27FC236}">
                <a16:creationId xmlns:a16="http://schemas.microsoft.com/office/drawing/2014/main" id="{55B422FC-AFBB-904C-A57E-EC526826CE7D}"/>
              </a:ext>
            </a:extLst>
          </p:cNvPr>
          <p:cNvSpPr txBox="1">
            <a:spLocks/>
          </p:cNvSpPr>
          <p:nvPr/>
        </p:nvSpPr>
        <p:spPr>
          <a:xfrm>
            <a:off x="136054" y="1702108"/>
            <a:ext cx="9585462" cy="195070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1pPr>
            <a:lvl2pPr marL="914400" marR="0" lvl="1"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2pPr>
            <a:lvl3pPr marL="1371600" marR="0" lvl="2"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3pPr>
            <a:lvl4pPr marL="1828800" marR="0" lvl="3"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4pPr>
            <a:lvl5pPr marL="2286000" marR="0" lvl="4" indent="-342900" algn="l" rtl="0">
              <a:lnSpc>
                <a:spcPct val="90000"/>
              </a:lnSpc>
              <a:spcBef>
                <a:spcPts val="500"/>
              </a:spcBef>
              <a:spcAft>
                <a:spcPts val="0"/>
              </a:spcAft>
              <a:buClr>
                <a:srgbClr val="4D4D4C"/>
              </a:buClr>
              <a:buSzPts val="1800"/>
              <a:buFont typeface="Arial"/>
              <a:buChar char="•"/>
              <a:defRPr sz="1400" b="0" i="0" u="none" strike="noStrike" cap="none">
                <a:solidFill>
                  <a:srgbClr val="000000"/>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400" b="0" i="0" u="none" strike="noStrike" cap="none">
                <a:solidFill>
                  <a:srgbClr val="000000"/>
                </a:solidFill>
                <a:latin typeface="Arial"/>
                <a:ea typeface="Arial"/>
                <a:cs typeface="Arial"/>
                <a:sym typeface="Arial"/>
              </a:defRPr>
            </a:lvl9pPr>
          </a:lstStyle>
          <a:p>
            <a:pPr>
              <a:lnSpc>
                <a:spcPct val="150000"/>
              </a:lnSpc>
              <a:spcBef>
                <a:spcPts val="0"/>
              </a:spcBef>
              <a:buClr>
                <a:schemeClr val="dk1"/>
              </a:buClr>
              <a:buSzPts val="1960"/>
              <a:buFont typeface="Wingdings" panose="05000000000000000000" pitchFamily="2" charset="2"/>
              <a:buChar char="Ø"/>
            </a:pPr>
            <a:r>
              <a:rPr lang="en-US" sz="1600" dirty="0">
                <a:solidFill>
                  <a:srgbClr val="C00000"/>
                </a:solidFill>
                <a:latin typeface="Fira Sans"/>
                <a:ea typeface="Fira Sans"/>
                <a:cs typeface="Fira Sans"/>
                <a:sym typeface="Fira Sans"/>
              </a:rPr>
              <a:t>Interactive Lookbook </a:t>
            </a:r>
            <a:r>
              <a:rPr lang="en-US" sz="1600" dirty="0">
                <a:solidFill>
                  <a:schemeClr val="dk1"/>
                </a:solidFill>
                <a:latin typeface="Fira Sans"/>
                <a:ea typeface="Fira Sans"/>
                <a:cs typeface="Fira Sans"/>
                <a:sym typeface="Fira Sans"/>
              </a:rPr>
              <a:t>– Shop outfits directly from editorial photography with hover-to-add-cart</a:t>
            </a:r>
          </a:p>
          <a:p>
            <a:pPr>
              <a:lnSpc>
                <a:spcPct val="150000"/>
              </a:lnSpc>
              <a:spcBef>
                <a:spcPts val="0"/>
              </a:spcBef>
              <a:buClr>
                <a:schemeClr val="dk1"/>
              </a:buClr>
              <a:buSzPts val="1960"/>
              <a:buFont typeface="Wingdings" panose="05000000000000000000" pitchFamily="2" charset="2"/>
              <a:buChar char="Ø"/>
            </a:pPr>
            <a:r>
              <a:rPr lang="en-US" sz="1600" dirty="0">
                <a:solidFill>
                  <a:srgbClr val="C00000"/>
                </a:solidFill>
                <a:latin typeface="Fira Sans"/>
                <a:ea typeface="Fira Sans"/>
                <a:cs typeface="Fira Sans"/>
                <a:sym typeface="Fira Sans"/>
              </a:rPr>
              <a:t>Admin Dashboard</a:t>
            </a:r>
            <a:r>
              <a:rPr lang="en-US" sz="1600" dirty="0">
                <a:solidFill>
                  <a:schemeClr val="dk1"/>
                </a:solidFill>
                <a:latin typeface="Fira Sans"/>
                <a:ea typeface="Fira Sans"/>
                <a:cs typeface="Fira Sans"/>
                <a:sym typeface="Fira Sans"/>
              </a:rPr>
              <a:t>– Product management, inventory control, order analysis</a:t>
            </a:r>
          </a:p>
          <a:p>
            <a:pPr>
              <a:lnSpc>
                <a:spcPct val="150000"/>
              </a:lnSpc>
              <a:spcBef>
                <a:spcPts val="0"/>
              </a:spcBef>
              <a:buClr>
                <a:schemeClr val="dk1"/>
              </a:buClr>
              <a:buSzPts val="1960"/>
              <a:buFont typeface="Wingdings" panose="05000000000000000000" pitchFamily="2" charset="2"/>
              <a:buChar char="Ø"/>
            </a:pPr>
            <a:r>
              <a:rPr lang="en-US" sz="1600" dirty="0">
                <a:solidFill>
                  <a:srgbClr val="C00000"/>
                </a:solidFill>
                <a:latin typeface="Fira Sans"/>
                <a:ea typeface="Fira Sans"/>
                <a:cs typeface="Fira Sans"/>
                <a:sym typeface="Fira Sans"/>
              </a:rPr>
              <a:t>Live Order Tracking – </a:t>
            </a:r>
            <a:r>
              <a:rPr lang="en-US" sz="1600" dirty="0">
                <a:solidFill>
                  <a:schemeClr val="dk1"/>
                </a:solidFill>
                <a:latin typeface="Fira Sans"/>
                <a:ea typeface="Fira Sans"/>
                <a:cs typeface="Fira Sans"/>
                <a:sym typeface="Fira Sans"/>
              </a:rPr>
              <a:t>Real-time logistics integration with shipment APIs</a:t>
            </a:r>
          </a:p>
          <a:p>
            <a:pPr>
              <a:lnSpc>
                <a:spcPct val="150000"/>
              </a:lnSpc>
              <a:spcBef>
                <a:spcPts val="0"/>
              </a:spcBef>
              <a:buClr>
                <a:schemeClr val="dk1"/>
              </a:buClr>
              <a:buSzPts val="1960"/>
              <a:buFont typeface="Wingdings" panose="05000000000000000000" pitchFamily="2" charset="2"/>
              <a:buChar char="Ø"/>
            </a:pPr>
            <a:r>
              <a:rPr lang="en-US" sz="1600" dirty="0">
                <a:solidFill>
                  <a:srgbClr val="C00000"/>
                </a:solidFill>
                <a:latin typeface="Fira Sans"/>
                <a:ea typeface="Fira Sans"/>
                <a:cs typeface="Fira Sans"/>
                <a:sym typeface="Fira Sans"/>
              </a:rPr>
              <a:t>Mobile App – </a:t>
            </a:r>
            <a:r>
              <a:rPr lang="en-US" sz="1600" dirty="0">
                <a:solidFill>
                  <a:schemeClr val="dk1"/>
                </a:solidFill>
                <a:latin typeface="Fira Sans"/>
                <a:ea typeface="Fira Sans"/>
                <a:cs typeface="Fira Sans"/>
                <a:sym typeface="Fira Sans"/>
              </a:rPr>
              <a:t>React native extension for iOS and Android platforms</a:t>
            </a:r>
          </a:p>
          <a:p>
            <a:pPr>
              <a:lnSpc>
                <a:spcPct val="150000"/>
              </a:lnSpc>
              <a:spcBef>
                <a:spcPts val="0"/>
              </a:spcBef>
              <a:buClr>
                <a:schemeClr val="dk1"/>
              </a:buClr>
              <a:buSzPts val="1960"/>
              <a:buFont typeface="Wingdings" panose="05000000000000000000" pitchFamily="2" charset="2"/>
              <a:buChar char="Ø"/>
            </a:pPr>
            <a:r>
              <a:rPr lang="en-US" sz="1600" dirty="0">
                <a:solidFill>
                  <a:srgbClr val="C00000"/>
                </a:solidFill>
                <a:latin typeface="Fira Sans"/>
                <a:ea typeface="Fira Sans"/>
                <a:cs typeface="Fira Sans"/>
                <a:sym typeface="Fira Sans"/>
              </a:rPr>
              <a:t>Premium Gifting – </a:t>
            </a:r>
            <a:r>
              <a:rPr lang="en-US" sz="1600" dirty="0">
                <a:solidFill>
                  <a:schemeClr val="dk1"/>
                </a:solidFill>
                <a:latin typeface="Fira Sans"/>
                <a:ea typeface="Fira Sans"/>
                <a:cs typeface="Fira Sans"/>
                <a:sym typeface="Fira Sans"/>
              </a:rPr>
              <a:t>Gold-stamped gift notes, custom packaging for festive season</a:t>
            </a:r>
          </a:p>
          <a:p>
            <a:pPr>
              <a:lnSpc>
                <a:spcPct val="150000"/>
              </a:lnSpc>
              <a:spcBef>
                <a:spcPts val="0"/>
              </a:spcBef>
              <a:buClr>
                <a:schemeClr val="dk1"/>
              </a:buClr>
              <a:buSzPts val="1960"/>
              <a:buFont typeface="Wingdings" panose="05000000000000000000" pitchFamily="2" charset="2"/>
              <a:buChar char="Ø"/>
            </a:pPr>
            <a:endParaRPr lang="en-US" sz="1600" dirty="0">
              <a:solidFill>
                <a:schemeClr val="dk1"/>
              </a:solidFill>
              <a:latin typeface="Fira Sans"/>
              <a:ea typeface="Fira Sans"/>
              <a:cs typeface="Fira Sans"/>
              <a:sym typeface="Fira Sans"/>
            </a:endParaRPr>
          </a:p>
          <a:p>
            <a:pPr>
              <a:lnSpc>
                <a:spcPct val="150000"/>
              </a:lnSpc>
              <a:spcBef>
                <a:spcPts val="0"/>
              </a:spcBef>
              <a:buClr>
                <a:schemeClr val="dk1"/>
              </a:buClr>
              <a:buSzPts val="1960"/>
              <a:buFont typeface="Wingdings" panose="05000000000000000000" pitchFamily="2" charset="2"/>
              <a:buChar char="Ø"/>
            </a:pPr>
            <a:endParaRPr lang="en-US" sz="1600" dirty="0">
              <a:solidFill>
                <a:schemeClr val="dk1"/>
              </a:solidFill>
              <a:latin typeface="Fira Sans"/>
              <a:ea typeface="Fira Sans"/>
              <a:cs typeface="Fira Sans"/>
              <a:sym typeface="Fira Sans"/>
            </a:endParaRPr>
          </a:p>
          <a:p>
            <a:pPr>
              <a:lnSpc>
                <a:spcPct val="150000"/>
              </a:lnSpc>
              <a:spcBef>
                <a:spcPts val="0"/>
              </a:spcBef>
              <a:buClr>
                <a:schemeClr val="dk1"/>
              </a:buClr>
              <a:buSzPts val="1960"/>
              <a:buFont typeface="Wingdings" panose="05000000000000000000" pitchFamily="2" charset="2"/>
              <a:buChar char="Ø"/>
            </a:pPr>
            <a:endParaRPr lang="en-US" sz="1600" dirty="0">
              <a:solidFill>
                <a:schemeClr val="dk1"/>
              </a:solidFill>
              <a:latin typeface="Fira Sans"/>
              <a:ea typeface="Fira Sans"/>
              <a:cs typeface="Fira Sans"/>
              <a:sym typeface="Fira Sans"/>
            </a:endParaRPr>
          </a:p>
          <a:p>
            <a:pPr>
              <a:lnSpc>
                <a:spcPct val="150000"/>
              </a:lnSpc>
              <a:spcBef>
                <a:spcPts val="0"/>
              </a:spcBef>
              <a:buClr>
                <a:schemeClr val="dk1"/>
              </a:buClr>
              <a:buSzPts val="1960"/>
              <a:buFont typeface="Wingdings" panose="05000000000000000000" pitchFamily="2" charset="2"/>
              <a:buChar char="Ø"/>
            </a:pPr>
            <a:endParaRPr lang="en-US" sz="1600" dirty="0">
              <a:solidFill>
                <a:schemeClr val="dk1"/>
              </a:solidFill>
              <a:latin typeface="Fira Sans"/>
              <a:ea typeface="Fira Sans"/>
              <a:cs typeface="Fira Sans"/>
              <a:sym typeface="Fira Sans"/>
            </a:endParaRPr>
          </a:p>
          <a:p>
            <a:pPr>
              <a:lnSpc>
                <a:spcPct val="150000"/>
              </a:lnSpc>
              <a:spcBef>
                <a:spcPts val="0"/>
              </a:spcBef>
              <a:buClr>
                <a:schemeClr val="dk1"/>
              </a:buClr>
              <a:buSzPts val="1960"/>
              <a:buFont typeface="Wingdings" panose="05000000000000000000" pitchFamily="2" charset="2"/>
              <a:buChar char="Ø"/>
            </a:pPr>
            <a:r>
              <a:rPr lang="en-IN" sz="1600" b="1" dirty="0" err="1">
                <a:solidFill>
                  <a:schemeClr val="tx1"/>
                </a:solidFill>
                <a:latin typeface="Times New Roman" panose="02020603050405020304" pitchFamily="18" charset="0"/>
                <a:cs typeface="Times New Roman" panose="02020603050405020304" pitchFamily="18" charset="0"/>
              </a:rPr>
              <a:t>Github</a:t>
            </a:r>
            <a:r>
              <a:rPr lang="en-IN" sz="1600" b="1" dirty="0">
                <a:solidFill>
                  <a:schemeClr val="tx1"/>
                </a:solidFill>
                <a:latin typeface="Times New Roman" panose="02020603050405020304" pitchFamily="18" charset="0"/>
                <a:cs typeface="Times New Roman" panose="02020603050405020304" pitchFamily="18" charset="0"/>
              </a:rPr>
              <a:t> Repo </a:t>
            </a:r>
            <a:r>
              <a:rPr lang="en-IN" sz="1600" dirty="0">
                <a:solidFill>
                  <a:schemeClr val="tx1"/>
                </a:solidFill>
                <a:latin typeface="Times New Roman" panose="02020603050405020304" pitchFamily="18" charset="0"/>
                <a:cs typeface="Times New Roman" panose="02020603050405020304" pitchFamily="18" charset="0"/>
              </a:rPr>
              <a:t> : </a:t>
            </a:r>
            <a:r>
              <a:rPr lang="en-IN" sz="1600" dirty="0">
                <a:solidFill>
                  <a:srgbClr val="00B0F0"/>
                </a:solidFill>
                <a:latin typeface="Times New Roman" panose="02020603050405020304" pitchFamily="18" charset="0"/>
                <a:cs typeface="Times New Roman" panose="02020603050405020304" pitchFamily="18" charset="0"/>
              </a:rPr>
              <a:t>https://github.com/nishi-shah231/Scandal</a:t>
            </a:r>
          </a:p>
          <a:p>
            <a:pPr>
              <a:lnSpc>
                <a:spcPct val="150000"/>
              </a:lnSpc>
              <a:spcBef>
                <a:spcPts val="0"/>
              </a:spcBef>
              <a:buClr>
                <a:schemeClr val="dk1"/>
              </a:buClr>
              <a:buSzPts val="1960"/>
              <a:buFont typeface="Wingdings" panose="05000000000000000000" pitchFamily="2" charset="2"/>
              <a:buChar char="Ø"/>
            </a:pPr>
            <a:endParaRPr lang="en-US" sz="1600" dirty="0">
              <a:solidFill>
                <a:schemeClr val="dk1"/>
              </a:solidFill>
              <a:latin typeface="Fira Sans"/>
              <a:ea typeface="Fira Sans"/>
              <a:cs typeface="Fira Sans"/>
              <a:sym typeface="Fira Sans"/>
            </a:endParaRPr>
          </a:p>
          <a:p>
            <a:pPr>
              <a:lnSpc>
                <a:spcPct val="100000"/>
              </a:lnSpc>
              <a:spcBef>
                <a:spcPts val="0"/>
              </a:spcBef>
              <a:buClr>
                <a:schemeClr val="dk1"/>
              </a:buClr>
              <a:buSzPts val="1960"/>
            </a:pPr>
            <a:endParaRPr lang="en-US" sz="2000" dirty="0">
              <a:solidFill>
                <a:schemeClr val="dk1"/>
              </a:solidFill>
              <a:latin typeface="Fira Sans"/>
              <a:ea typeface="Fira Sans"/>
              <a:cs typeface="Fira Sans"/>
              <a:sym typeface="Fira Sans"/>
            </a:endParaRPr>
          </a:p>
        </p:txBody>
      </p:sp>
      <p:sp>
        <p:nvSpPr>
          <p:cNvPr id="4" name="TextBox 3">
            <a:extLst>
              <a:ext uri="{FF2B5EF4-FFF2-40B4-BE49-F238E27FC236}">
                <a16:creationId xmlns:a16="http://schemas.microsoft.com/office/drawing/2014/main" id="{5BFB8754-351C-0F92-42BD-89006B68C772}"/>
              </a:ext>
            </a:extLst>
          </p:cNvPr>
          <p:cNvSpPr txBox="1"/>
          <p:nvPr/>
        </p:nvSpPr>
        <p:spPr>
          <a:xfrm>
            <a:off x="464614" y="1368089"/>
            <a:ext cx="3241113" cy="400110"/>
          </a:xfrm>
          <a:prstGeom prst="rect">
            <a:avLst/>
          </a:prstGeom>
          <a:noFill/>
        </p:spPr>
        <p:txBody>
          <a:bodyPr wrap="square">
            <a:spAutoFit/>
          </a:bodyPr>
          <a:lstStyle/>
          <a:p>
            <a:r>
              <a:rPr lang="en-US" sz="2000" b="1" dirty="0">
                <a:solidFill>
                  <a:srgbClr val="C00000"/>
                </a:solidFill>
                <a:latin typeface="Fira Sans"/>
                <a:ea typeface="Fira Sans"/>
                <a:cs typeface="Fira Sans"/>
                <a:sym typeface="Fira Sans"/>
              </a:rPr>
              <a:t>Future Enhancements</a:t>
            </a:r>
            <a:endParaRPr lang="en-IN" sz="2000" b="1" dirty="0"/>
          </a:p>
        </p:txBody>
      </p:sp>
    </p:spTree>
    <p:extLst>
      <p:ext uri="{BB962C8B-B14F-4D97-AF65-F5344CB8AC3E}">
        <p14:creationId xmlns:p14="http://schemas.microsoft.com/office/powerpoint/2010/main" val="5248294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38426-ABF1-2D95-D6EC-E9110B3B1875}"/>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E359024-AF6B-8F6D-9DB4-E1C861200506}"/>
              </a:ext>
            </a:extLst>
          </p:cNvPr>
          <p:cNvSpPr>
            <a:spLocks noGrp="1"/>
          </p:cNvSpPr>
          <p:nvPr>
            <p:ph type="body" idx="1"/>
          </p:nvPr>
        </p:nvSpPr>
        <p:spPr/>
        <p:txBody>
          <a:bodyPr>
            <a:normAutofit/>
          </a:bodyPr>
          <a:lstStyle/>
          <a:p>
            <a:pPr marL="114300" indent="0">
              <a:buNone/>
            </a:pPr>
            <a:endParaRPr lang="en-IN" sz="6000" dirty="0">
              <a:solidFill>
                <a:srgbClr val="C00000"/>
              </a:solidFill>
              <a:latin typeface="Times New Roman" panose="02020603050405020304" pitchFamily="18" charset="0"/>
              <a:cs typeface="Times New Roman" panose="02020603050405020304" pitchFamily="18" charset="0"/>
            </a:endParaRPr>
          </a:p>
          <a:p>
            <a:pPr marL="114300" indent="0">
              <a:buNone/>
            </a:pPr>
            <a:r>
              <a:rPr lang="en-IN" sz="6000" dirty="0">
                <a:solidFill>
                  <a:srgbClr val="C00000"/>
                </a:solidFill>
                <a:latin typeface="Times New Roman" panose="02020603050405020304" pitchFamily="18" charset="0"/>
                <a:cs typeface="Times New Roman" panose="02020603050405020304" pitchFamily="18" charset="0"/>
              </a:rPr>
              <a:t>                </a:t>
            </a:r>
            <a:r>
              <a:rPr lang="en-IN" sz="6000" i="1" dirty="0">
                <a:solidFill>
                  <a:srgbClr val="C00000"/>
                </a:solidFill>
                <a:latin typeface="Times New Roman" panose="02020603050405020304" pitchFamily="18" charset="0"/>
                <a:cs typeface="Times New Roman" panose="02020603050405020304" pitchFamily="18" charset="0"/>
              </a:rPr>
              <a:t>Thank You </a:t>
            </a:r>
          </a:p>
          <a:p>
            <a:pPr marL="114300" indent="0">
              <a:buNone/>
            </a:pPr>
            <a:r>
              <a:rPr lang="en-IN" sz="6000" i="1" dirty="0">
                <a:solidFill>
                  <a:srgbClr val="C00000"/>
                </a:solidFill>
                <a:latin typeface="Times New Roman" panose="02020603050405020304" pitchFamily="18" charset="0"/>
                <a:cs typeface="Times New Roman" panose="02020603050405020304" pitchFamily="18" charset="0"/>
              </a:rPr>
              <a:t>                       : ) </a:t>
            </a:r>
          </a:p>
          <a:p>
            <a:pPr marL="114300" indent="0">
              <a:buNone/>
            </a:pPr>
            <a:endParaRPr lang="en-IN" sz="1200" i="1" dirty="0">
              <a:solidFill>
                <a:srgbClr val="C00000"/>
              </a:solidFill>
              <a:latin typeface="Times New Roman" panose="02020603050405020304" pitchFamily="18" charset="0"/>
              <a:cs typeface="Times New Roman" panose="02020603050405020304" pitchFamily="18" charset="0"/>
            </a:endParaRPr>
          </a:p>
          <a:p>
            <a:pPr marL="114300" indent="0">
              <a:buNone/>
            </a:pPr>
            <a:endParaRPr lang="en-IN" sz="1200" i="1" dirty="0">
              <a:solidFill>
                <a:srgbClr val="C00000"/>
              </a:solidFill>
              <a:latin typeface="Times New Roman" panose="02020603050405020304" pitchFamily="18" charset="0"/>
              <a:cs typeface="Times New Roman" panose="02020603050405020304" pitchFamily="18" charset="0"/>
            </a:endParaRPr>
          </a:p>
          <a:p>
            <a:pPr marL="114300" indent="0">
              <a:buNone/>
            </a:pPr>
            <a:endParaRPr lang="en-IN" sz="1200" i="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5298652"/>
      </p:ext>
    </p:extLst>
  </p:cSld>
  <p:clrMapOvr>
    <a:masterClrMapping/>
  </p:clrMapOvr>
</p:sld>
</file>

<file path=ppt/theme/theme1.xml><?xml version="1.0" encoding="utf-8"?>
<a:theme xmlns:a="http://schemas.openxmlformats.org/drawingml/2006/main" name="Office Theme">
  <a:themeElements>
    <a:clrScheme name="Somaiya 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TotalTime>
  <Words>388</Words>
  <Application>Microsoft Office PowerPoint</Application>
  <PresentationFormat>Widescreen</PresentationFormat>
  <Paragraphs>43</Paragraphs>
  <Slides>10</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Fira Sans</vt:lpstr>
      <vt:lpstr>Arial</vt:lpstr>
      <vt:lpstr>Marcellus</vt:lpstr>
      <vt:lpstr>Times New Roman</vt:lpstr>
      <vt:lpstr>Calibri</vt:lpstr>
      <vt:lpstr>Wingdings</vt:lpstr>
      <vt:lpstr>Office Theme</vt:lpstr>
      <vt:lpstr>Scandal-Traditional Men’s Wear</vt:lpstr>
      <vt:lpstr>Problem Statement</vt:lpstr>
      <vt:lpstr>Project Objectives </vt:lpstr>
      <vt:lpstr>Tools &amp; Technologies Used </vt:lpstr>
      <vt:lpstr>UI Design – Homepage &amp; Product Catalogue </vt:lpstr>
      <vt:lpstr>Smart User Features – AI Stylist &amp; Size Consultant</vt:lpstr>
      <vt:lpstr>UI Design – Collections, Cart &amp; Authentication </vt:lpstr>
      <vt:lpstr>Database Schema – MongoDB Collection Design</vt:lpstr>
      <vt:lpstr>Future Scope &amp; 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Pushpendra Kumar Dhansoia</dc:creator>
  <cp:lastModifiedBy>Khush Satra</cp:lastModifiedBy>
  <cp:revision>12</cp:revision>
  <dcterms:created xsi:type="dcterms:W3CDTF">2022-02-21T05:08:08Z</dcterms:created>
  <dcterms:modified xsi:type="dcterms:W3CDTF">2026-04-01T06:08:02Z</dcterms:modified>
</cp:coreProperties>
</file>